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686800" y="-1737360"/>
            <a:ext cx="6309360" cy="6309360"/>
          </a:xfrm>
          <a:prstGeom prst="ellipse">
            <a:avLst/>
          </a:prstGeom>
          <a:solidFill>
            <a:srgbClr val="16202C"/>
          </a:solidFill>
          <a:ln>
            <a:solidFill>
              <a:srgbClr val="162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149840" y="-365760"/>
            <a:ext cx="3383280" cy="3383280"/>
          </a:xfrm>
          <a:prstGeom prst="ellipse">
            <a:avLst/>
          </a:prstGeom>
          <a:solidFill>
            <a:srgbClr val="1D2B3A"/>
          </a:solidFill>
          <a:ln>
            <a:solidFill>
              <a:srgbClr val="1D2B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D4AF37"/>
                </a:solidFill>
                <a:latin typeface="Calibri"/>
              </a:rPr>
              <a:t>NORTHSTAR INTELLIGENCE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76272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600" b="1">
                <a:solidFill>
                  <a:srgbClr val="E8EDF3"/>
                </a:solidFill>
                <a:latin typeface="Cambria"/>
              </a:rPr>
              <a:t>ETL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090672"/>
            <a:ext cx="8686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0">
                <a:solidFill>
                  <a:srgbClr val="7FB2E5"/>
                </a:solidFill>
                <a:latin typeface="Calibri"/>
              </a:rPr>
              <a:t>Visual logic &amp; calculations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794760"/>
            <a:ext cx="76809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8A94A0"/>
                </a:solidFill>
                <a:latin typeface="Calibri"/>
              </a:rPr>
              <a:t>The reports answer questions about the portfolio. This one answers questions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8A94A0"/>
                </a:solidFill>
                <a:latin typeface="Calibri"/>
              </a:rPr>
              <a:t>about the platform that produces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12064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67737F"/>
                </a:solidFill>
                <a:latin typeface="Calibri"/>
              </a:rPr>
              <a:t>/api/dashboard  ·  captured 01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E8EDF3"/>
                </a:solidFill>
                <a:latin typeface="Cambria"/>
              </a:rPr>
              <a:t>The shell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>
                <a:solidFill>
                  <a:srgbClr val="8A94A0"/>
                </a:solidFill>
                <a:latin typeface="Calibri"/>
              </a:rPr>
              <a:t>One route, five renderers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7FB2E5"/>
                </a:solidFill>
                <a:latin typeface="Cambria"/>
              </a:rPr>
              <a:t>Server-rendered HTML. No client framework, and no build step to go stale.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377440"/>
            <a:ext cx="694944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E8EDF3"/>
                </a:solidFill>
                <a:latin typeface="Calibri"/>
              </a:rPr>
              <a:t>A ?tab= parameter picks the renderer. Anything unrecognised returns the list of valid tabs rather than a 500, which matters more than it sounds — a typo in a bookmarked link should not look like an outage.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96412"/>
            <a:ext cx="694944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E8EDF3"/>
                </a:solidFill>
                <a:latin typeface="Calibri"/>
              </a:rPr>
              <a:t>Navigation state living in the URL means any tab can be linked, bookmarked, or pasted into a thread mid-investigation. That was the whole reason for the parameter.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000500"/>
            <a:ext cx="694944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E8EDF3"/>
                </a:solidFill>
                <a:latin typeface="Calibri"/>
              </a:rPr>
              <a:t>The alert banner is rendered by the shell, not by any tab, so a problem found on one screen stays visible on all of them. At capture time: 10 open high-severity actions, and 2 days missing from bronze in the last 7.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E8EDF3"/>
                </a:solidFill>
                <a:latin typeface="Cambria"/>
              </a:rPr>
              <a:t>1 ·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>
                <a:solidFill>
                  <a:srgbClr val="8A94A0"/>
                </a:solidFill>
                <a:latin typeface="Calibri"/>
              </a:rPr>
              <a:t>Did it run last night, and is anything piling up?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94002"/>
            <a:ext cx="6720840" cy="4163771"/>
          </a:xfrm>
          <a:prstGeom prst="roundRect">
            <a:avLst>
              <a:gd name="adj" fmla="val 2000"/>
            </a:avLst>
          </a:prstGeom>
          <a:solidFill>
            <a:srgbClr val="F7F8FA"/>
          </a:solidFill>
          <a:ln w="9525">
            <a:solidFill>
              <a:srgbClr val="2B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ov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85442"/>
            <a:ext cx="6537959" cy="398089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589520" y="1298448"/>
            <a:ext cx="4050791" cy="2148840"/>
          </a:xfrm>
          <a:prstGeom prst="roundRect">
            <a:avLst>
              <a:gd name="adj" fmla="val 3000"/>
            </a:avLst>
          </a:prstGeom>
          <a:solidFill>
            <a:srgbClr val="0C1219"/>
          </a:solidFill>
          <a:ln w="9525">
            <a:solidFill>
              <a:srgbClr val="2B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426464"/>
            <a:ext cx="3593591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D4AF37"/>
                </a:solidFill>
                <a:latin typeface="Calibri"/>
              </a:rPr>
              <a:t>LAST RUN PER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1719072"/>
            <a:ext cx="3593591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0">
                <a:solidFill>
                  <a:srgbClr val="BFD2E4"/>
                </a:solidFill>
                <a:latin typeface="Consolas"/>
              </a:rPr>
              <a:t>SELECT PipelineKey,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BFD2E4"/>
                </a:solidFill>
                <a:latin typeface="Consolas"/>
              </a:rPr>
              <a:t>       MAX(RunId) AS LatestRunId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BFD2E4"/>
                </a:solidFill>
                <a:latin typeface="Consolas"/>
              </a:rPr>
              <a:t>FROM   pipeline.pipeline_runs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BFD2E4"/>
                </a:solidFill>
                <a:latin typeface="Consolas"/>
              </a:rPr>
              <a:t>GROUP  BY PipelineKey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3118104"/>
            <a:ext cx="3593591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8A94A0"/>
                </a:solidFill>
                <a:latin typeface="Calibri"/>
              </a:rPr>
              <a:t>Not a TOP 6 — that returns six runs of the busiest pipeline.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3611880"/>
            <a:ext cx="4050791" cy="2441448"/>
          </a:xfrm>
          <a:prstGeom prst="roundRect">
            <a:avLst>
              <a:gd name="adj" fmla="val 3000"/>
            </a:avLst>
          </a:prstGeom>
          <a:solidFill>
            <a:srgbClr val="1A2029"/>
          </a:solidFill>
          <a:ln w="9525">
            <a:solidFill>
              <a:srgbClr val="2A32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3749040"/>
            <a:ext cx="359359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7FB2E5"/>
                </a:solidFill>
                <a:latin typeface="Cambria"/>
              </a:rPr>
              <a:t>Why grouped, not ranked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4069080"/>
            <a:ext cx="3593591" cy="1801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>
                <a:solidFill>
                  <a:srgbClr val="E8EDF3"/>
                </a:solidFill>
                <a:latin typeface="Calibri"/>
              </a:rPr>
              <a:t>Grouping by pipeline guarantees every pipeline gets a row, whether it ran last night or last week.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E8EDF3"/>
                </a:solidFill>
                <a:latin typeface="Calibri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E8EDF3"/>
                </a:solidFill>
                <a:latin typeface="Calibri"/>
              </a:rPr>
              <a:t>A stale date is how an absence becomes visible. Rank by recency instead and a silent failure renders as nothing at all, which is the failure mode this panel exists to prevent.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E8EDF3"/>
                </a:solidFill>
                <a:latin typeface="Cambria"/>
              </a:rPr>
              <a:t>1 · Overview,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>
                <a:solidFill>
                  <a:srgbClr val="8A94A0"/>
                </a:solidFill>
                <a:latin typeface="Calibri"/>
              </a:rPr>
              <a:t>The four panels beneath the fold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3602492"/>
            <a:ext cx="5541264" cy="2076175"/>
          </a:xfrm>
          <a:prstGeom prst="roundRect">
            <a:avLst>
              <a:gd name="adj" fmla="val 2000"/>
            </a:avLst>
          </a:prstGeom>
          <a:solidFill>
            <a:srgbClr val="F7F8FA"/>
          </a:solidFill>
          <a:ln w="9525">
            <a:solidFill>
              <a:srgbClr val="2B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ov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693932"/>
            <a:ext cx="5358383" cy="189329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92823" y="1417320"/>
            <a:ext cx="504748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7FB2E5"/>
                </a:solidFill>
                <a:latin typeface="Cambria"/>
              </a:rPr>
              <a:t>What each one is for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2823" y="1874519"/>
            <a:ext cx="20116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D4AF37"/>
                </a:solidFill>
                <a:latin typeface="Consola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19" y="1874519"/>
            <a:ext cx="4736592" cy="722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E8EDF3"/>
                </a:solidFill>
                <a:latin typeface="Calibri"/>
              </a:rPr>
              <a:t>The throughput trend is log scale. Canonical writes ~9,979 rows a night and bronze writes 14; on a linear axis four of the five pipelines flatline against the baseline.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2823" y="2692908"/>
            <a:ext cx="20116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D4AF37"/>
                </a:solidFill>
                <a:latin typeface="Consola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03719" y="2692908"/>
            <a:ext cx="473659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E8EDF3"/>
                </a:solidFill>
                <a:latin typeface="Calibri"/>
              </a:rPr>
              <a:t>A gap in that line means a night with no successful run. Absence is drawn, not omitted.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2823" y="3305556"/>
            <a:ext cx="20116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D4AF37"/>
                </a:solidFill>
                <a:latin typeface="Consola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3305556"/>
            <a:ext cx="4736592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E8EDF3"/>
                </a:solidFill>
                <a:latin typeface="Calibri"/>
              </a:rPr>
              <a:t>Reconciliation actions are grouped by type with high severity split out beside the total. SPEND_DIVERGENCE_UNRESOLVED carries 56,640 actions and none of them high; MISSING_FOLDER carries six, all six high. One column would have hidden both facts.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2823" y="4329683"/>
            <a:ext cx="20116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D4AF37"/>
                </a:solidFill>
                <a:latin typeface="Consola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03719" y="4329683"/>
            <a:ext cx="4736592" cy="722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E8EDF3"/>
                </a:solidFill>
                <a:latin typeface="Calibri"/>
              </a:rPr>
              <a:t>Top divergent vendors ranks by action count and days affected together, so a vendor that diverges badly once ranks below one that diverges mildly every day.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2823" y="5285231"/>
            <a:ext cx="50474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8A94A0"/>
                </a:solidFill>
                <a:latin typeface="Calibri"/>
              </a:rPr>
              <a:t>The cross-tab reads down for pipeline reliability, across for a bad night.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E8EDF3"/>
                </a:solidFill>
                <a:latin typeface="Cambria"/>
              </a:rPr>
              <a:t>1 · Overview — the run history cross-tab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>
                <a:solidFill>
                  <a:srgbClr val="8A94A0"/>
                </a:solidFill>
                <a:latin typeface="Calibri"/>
              </a:rPr>
              <a:t>Five business dates against five pipelines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5760720" cy="2148840"/>
          </a:xfrm>
          <a:prstGeom prst="roundRect">
            <a:avLst>
              <a:gd name="adj" fmla="val 3000"/>
            </a:avLst>
          </a:prstGeom>
          <a:solidFill>
            <a:srgbClr val="0C1219"/>
          </a:solidFill>
          <a:ln w="9525">
            <a:solidFill>
              <a:srgbClr val="2B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45336"/>
            <a:ext cx="5303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D4AF37"/>
                </a:solidFill>
                <a:latin typeface="Calibri"/>
              </a:rPr>
              <a:t>2026-07-30, AS RENDERED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37944"/>
            <a:ext cx="53035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0">
                <a:solidFill>
                  <a:srgbClr val="BFD2E4"/>
                </a:solidFill>
                <a:latin typeface="Consolas"/>
              </a:rPr>
              <a:t>BRONZE      —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BFD2E4"/>
                </a:solidFill>
                <a:latin typeface="Consolas"/>
              </a:rPr>
              <a:t>CANONICAL   SUCCESS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BFD2E4"/>
                </a:solidFill>
                <a:latin typeface="Consolas"/>
              </a:rPr>
              <a:t>OPS         SUCCESS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BFD2E4"/>
                </a:solidFill>
                <a:latin typeface="Consolas"/>
              </a:rPr>
              <a:t>SPEND       SUCCESS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BFD2E4"/>
                </a:solidFill>
                <a:latin typeface="Consolas"/>
              </a:rPr>
              <a:t>CRM         SUCCESS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36976"/>
            <a:ext cx="5303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8A94A0"/>
                </a:solidFill>
                <a:latin typeface="Calibri"/>
              </a:rPr>
              <a:t>An em dash means no row in pipeline_runs. It does not mean a failure.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29400" y="1417320"/>
            <a:ext cx="5010912" cy="2148840"/>
          </a:xfrm>
          <a:prstGeom prst="roundRect">
            <a:avLst>
              <a:gd name="adj" fmla="val 3000"/>
            </a:avLst>
          </a:prstGeom>
          <a:solidFill>
            <a:srgbClr val="16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03720" y="1572768"/>
            <a:ext cx="44622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7FB2E5"/>
                </a:solidFill>
                <a:latin typeface="Cambria"/>
              </a:rPr>
              <a:t>The case that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03720" y="1920240"/>
            <a:ext cx="4462272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E8EDF3"/>
                </a:solidFill>
                <a:latin typeface="Calibri"/>
              </a:rPr>
              <a:t>Four pipelines succeeded that night, and all four read bronze. So bronze produced its files and failed only to record that it had.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E8EDF3"/>
                </a:solidFill>
                <a:latin typeface="Calibri"/>
              </a:rPr>
              <a:t>A missing row and a missing night render identically here. That is a known gap, not a design choice.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77639"/>
            <a:ext cx="1109167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>
                <a:solidFill>
                  <a:srgbClr val="8A94A0"/>
                </a:solidFill>
                <a:latin typeface="Calibri"/>
              </a:rPr>
              <a:t>Reading down a column tells you whether one pipeline is unreliable. Reading across a row tells you whether one night failed broadly. A flat list supports neither, which is the only reason this panel is a matrix.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E8EDF3"/>
                </a:solidFill>
                <a:latin typeface="Cambria"/>
              </a:rPr>
              <a:t>2 · Run history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>
                <a:solidFill>
                  <a:srgbClr val="8A94A0"/>
                </a:solidFill>
                <a:latin typeface="Calibri"/>
              </a:rPr>
              <a:t>The execution ledger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95205"/>
            <a:ext cx="5989320" cy="4561365"/>
          </a:xfrm>
          <a:prstGeom prst="roundRect">
            <a:avLst>
              <a:gd name="adj" fmla="val 2000"/>
            </a:avLst>
          </a:prstGeom>
          <a:solidFill>
            <a:srgbClr val="F7F8FA"/>
          </a:solidFill>
          <a:ln w="9525">
            <a:solidFill>
              <a:srgbClr val="2B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uns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86645"/>
            <a:ext cx="5806440" cy="437848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720840" y="1298448"/>
            <a:ext cx="4919472" cy="2240280"/>
          </a:xfrm>
          <a:prstGeom prst="roundRect">
            <a:avLst>
              <a:gd name="adj" fmla="val 3000"/>
            </a:avLst>
          </a:prstGeom>
          <a:solidFill>
            <a:srgbClr val="0C1219"/>
          </a:solidFill>
          <a:ln w="9525">
            <a:solidFill>
              <a:srgbClr val="2B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0" y="1426464"/>
            <a:ext cx="446227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D4AF37"/>
                </a:solidFill>
                <a:latin typeface="Calibri"/>
              </a:rPr>
              <a:t>STATUS 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1719072"/>
            <a:ext cx="4462272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0">
                <a:solidFill>
                  <a:srgbClr val="BFD2E4"/>
                </a:solidFill>
                <a:latin typeface="Consolas"/>
              </a:rPr>
              <a:t>SUCCESS              completed, rows written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BFD2E4"/>
                </a:solidFill>
                <a:latin typeface="Consolas"/>
              </a:rPr>
              <a:t>FAILED               crashed or threw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BFD2E4"/>
                </a:solidFill>
                <a:latin typeface="Consolas"/>
              </a:rPr>
              <a:t>RUNNING              started, no end recorded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BFD2E4"/>
                </a:solidFill>
                <a:latin typeface="Consolas"/>
              </a:rPr>
              <a:t>ROW_COUNT_MISMATCH   wrote, did not reconcile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3209544"/>
            <a:ext cx="446227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8A94A0"/>
                </a:solidFill>
                <a:latin typeface="Calibri"/>
              </a:rPr>
              <a:t>135 runs · 98.5% over 30d · 27s average.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20840" y="3703320"/>
            <a:ext cx="4919472" cy="2350008"/>
          </a:xfrm>
          <a:prstGeom prst="roundRect">
            <a:avLst>
              <a:gd name="adj" fmla="val 3000"/>
            </a:avLst>
          </a:prstGeom>
          <a:solidFill>
            <a:srgbClr val="1A2029"/>
          </a:solidFill>
          <a:ln w="9525">
            <a:solidFill>
              <a:srgbClr val="2A32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0" y="3840480"/>
            <a:ext cx="44622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7FB2E5"/>
                </a:solidFill>
                <a:latin typeface="Cambria"/>
              </a:rPr>
              <a:t>Rows loaded sits beside status on purpose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4160520"/>
            <a:ext cx="4462272" cy="1709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>
                <a:solidFill>
                  <a:srgbClr val="E8EDF3"/>
                </a:solidFill>
                <a:latin typeface="Calibri"/>
              </a:rPr>
              <a:t>A run can finish SUCCESS having written nothing.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E8EDF3"/>
                </a:solidFill>
                <a:latin typeface="Calibri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E8EDF3"/>
                </a:solidFill>
                <a:latin typeface="Calibri"/>
              </a:rPr>
              <a:t>This platform carried exactly that defect until the publisher was changed to fail on a zero-row write. Putting the count next to the status is the cheap version of that guard, and it stays useful even now the expensive one exists.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E8EDF3"/>
                </a:solidFill>
                <a:latin typeface="Cambria"/>
              </a:rPr>
              <a:t>3 · Reconciliation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>
                <a:solidFill>
                  <a:srgbClr val="8A94A0"/>
                </a:solidFill>
                <a:latin typeface="Calibri"/>
              </a:rPr>
              <a:t>The only tab that is a workflow rather than a report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1196" y="1298448"/>
            <a:ext cx="7427246" cy="4754880"/>
          </a:xfrm>
          <a:prstGeom prst="roundRect">
            <a:avLst>
              <a:gd name="adj" fmla="val 2000"/>
            </a:avLst>
          </a:prstGeom>
          <a:solidFill>
            <a:srgbClr val="F7F8FA"/>
          </a:solidFill>
          <a:ln w="9525">
            <a:solidFill>
              <a:srgbClr val="2B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ec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636" y="1389888"/>
            <a:ext cx="7244366" cy="4572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183879" y="1298448"/>
            <a:ext cx="3456432" cy="4754880"/>
          </a:xfrm>
          <a:prstGeom prst="roundRect">
            <a:avLst>
              <a:gd name="adj" fmla="val 3000"/>
            </a:avLst>
          </a:prstGeom>
          <a:solidFill>
            <a:srgbClr val="1A2029"/>
          </a:solidFill>
          <a:ln w="9525">
            <a:solidFill>
              <a:srgbClr val="2A32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1435607"/>
            <a:ext cx="29992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7FB2E5"/>
                </a:solidFill>
                <a:latin typeface="Cambria"/>
              </a:rPr>
              <a:t>Bulk applies to the filter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1755648"/>
            <a:ext cx="2999232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>
                <a:solidFill>
                  <a:srgbClr val="E8EDF3"/>
                </a:solidFill>
                <a:latin typeface="Calibri"/>
              </a:rPr>
              <a:t>Source, status and severity compose. Chips rather than dropdowns, so the current filter is always on screen.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E8EDF3"/>
                </a:solidFill>
                <a:latin typeface="Calibri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E8EDF3"/>
                </a:solidFill>
                <a:latin typeface="Calibri"/>
              </a:rPr>
              <a:t>1,126 actions. 639 open, 497 high, 629 medium.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E8EDF3"/>
                </a:solidFill>
                <a:latin typeface="Calibri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E8EDF3"/>
                </a:solidFill>
                <a:latin typeface="Calibri"/>
              </a:rPr>
              <a:t>Acknowledging all filtered acts on every matching row, not the 25 on screen. Working a queue of 639 a page at a time is not work anyone does twice.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E8EDF3"/>
                </a:solidFill>
                <a:latin typeface="Calibri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E8EDF3"/>
                </a:solidFill>
                <a:latin typeface="Calibri"/>
              </a:rPr>
              <a:t>The narrowing is the safeguard. You have to reduce the set before you can clear it, and that act is what stops you clearing too much.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E8EDF3"/>
                </a:solidFill>
                <a:latin typeface="Cambria"/>
              </a:rPr>
              <a:t>4 · Attribution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>
                <a:solidFill>
                  <a:srgbClr val="8A94A0"/>
                </a:solidFill>
                <a:latin typeface="Calibri"/>
              </a:rPr>
              <a:t>Leases that happened, with no marketing trail behind them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2895" y="1298448"/>
            <a:ext cx="6078008" cy="4754880"/>
          </a:xfrm>
          <a:prstGeom prst="roundRect">
            <a:avLst>
              <a:gd name="adj" fmla="val 2000"/>
            </a:avLst>
          </a:prstGeom>
          <a:solidFill>
            <a:srgbClr val="F7F8FA"/>
          </a:solidFill>
          <a:ln w="9525">
            <a:solidFill>
              <a:srgbClr val="2B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tt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335" y="1389888"/>
            <a:ext cx="5895128" cy="457199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178040" y="1298448"/>
            <a:ext cx="4462272" cy="2286000"/>
          </a:xfrm>
          <a:prstGeom prst="roundRect">
            <a:avLst>
              <a:gd name="adj" fmla="val 3000"/>
            </a:avLst>
          </a:prstGeom>
          <a:solidFill>
            <a:srgbClr val="0C1219"/>
          </a:solidFill>
          <a:ln w="9525">
            <a:solidFill>
              <a:srgbClr val="2B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0" y="1426464"/>
            <a:ext cx="400507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D4AF37"/>
                </a:solidFill>
                <a:latin typeface="Calibri"/>
              </a:rPr>
              <a:t>THE SUBTRACTION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1719072"/>
            <a:ext cx="4005072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0">
                <a:solidFill>
                  <a:srgbClr val="BFD2E4"/>
                </a:solidFill>
                <a:latin typeface="Consolas"/>
              </a:rPr>
              <a:t>operational (DS=1)   6,896   canonical truth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BFD2E4"/>
                </a:solidFill>
                <a:latin typeface="Consolas"/>
              </a:rPr>
              <a:t>attributable (DS=2)  5,364   CRM rebuild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BFD2E4"/>
                </a:solidFill>
                <a:latin typeface="Consolas"/>
              </a:rPr>
              <a:t>                    ──────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BFD2E4"/>
                </a:solidFill>
                <a:latin typeface="Consolas"/>
              </a:rPr>
              <a:t>walk-in gap          1,532   22.2%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3255264"/>
            <a:ext cx="400507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8A94A0"/>
                </a:solidFill>
                <a:latin typeface="Calibri"/>
              </a:rPr>
              <a:t>About 13 leases a day arriving with no attributable path.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78040" y="3749039"/>
            <a:ext cx="4462272" cy="2304288"/>
          </a:xfrm>
          <a:prstGeom prst="roundRect">
            <a:avLst>
              <a:gd name="adj" fmla="val 3000"/>
            </a:avLst>
          </a:prstGeom>
          <a:solidFill>
            <a:srgbClr val="1A2029"/>
          </a:solidFill>
          <a:ln w="9525">
            <a:solidFill>
              <a:srgbClr val="2A32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0" y="3886200"/>
            <a:ext cx="40050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7FB2E5"/>
                </a:solidFill>
                <a:latin typeface="Cambria"/>
              </a:rPr>
              <a:t>Most analytics cannot do this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4206240"/>
            <a:ext cx="4005072" cy="16642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>
                <a:solidFill>
                  <a:srgbClr val="E8EDF3"/>
                </a:solidFill>
                <a:latin typeface="Calibri"/>
              </a:rPr>
              <a:t>A real operator holds only the CRM view, so they cannot see what it is missing.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E8EDF3"/>
                </a:solidFill>
                <a:latin typeface="Calibri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E8EDF3"/>
                </a:solidFill>
                <a:latin typeface="Calibri"/>
              </a:rPr>
              <a:t>Holding canonical truth beside the reconstruction is what makes the difference computable at all.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E8EDF3"/>
                </a:solidFill>
                <a:latin typeface="Calibri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E8EDF3"/>
                </a:solidFill>
                <a:latin typeface="Calibri"/>
              </a:rPr>
              <a:t>A wide gap is walk-ins and referrals behaving normally. It is not a data quality failure, and reading it as one would be the expensive mistake.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E8EDF3"/>
                </a:solidFill>
                <a:latin typeface="Cambria"/>
              </a:rPr>
              <a:t>5 · Activity log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>
                <a:solidFill>
                  <a:srgbClr val="8A94A0"/>
                </a:solidFill>
                <a:latin typeface="Calibri"/>
              </a:rPr>
              <a:t>Every pipeline's events, unioned into one chronological feed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59120"/>
            <a:ext cx="6720840" cy="4633535"/>
          </a:xfrm>
          <a:prstGeom prst="roundRect">
            <a:avLst>
              <a:gd name="adj" fmla="val 2000"/>
            </a:avLst>
          </a:prstGeom>
          <a:solidFill>
            <a:srgbClr val="F7F8FA"/>
          </a:solidFill>
          <a:ln w="9525">
            <a:solidFill>
              <a:srgbClr val="2B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ct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50560"/>
            <a:ext cx="6537959" cy="445065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589520" y="1298448"/>
            <a:ext cx="4050791" cy="2240280"/>
          </a:xfrm>
          <a:prstGeom prst="roundRect">
            <a:avLst>
              <a:gd name="adj" fmla="val 3000"/>
            </a:avLst>
          </a:prstGeom>
          <a:solidFill>
            <a:srgbClr val="0C1219"/>
          </a:solidFill>
          <a:ln w="9525">
            <a:solidFill>
              <a:srgbClr val="2B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426464"/>
            <a:ext cx="3593591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D4AF37"/>
                </a:solidFill>
                <a:latin typeface="Calibri"/>
              </a:rPr>
              <a:t>ONE CTE, FOUR CONSUMERS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1719072"/>
            <a:ext cx="3593591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0">
                <a:solidFill>
                  <a:srgbClr val="BFD2E4"/>
                </a:solidFill>
                <a:latin typeface="Consolas"/>
              </a:rPr>
              <a:t>unioned events → total       40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BFD2E4"/>
                </a:solidFill>
                <a:latin typeface="Consolas"/>
              </a:rPr>
              <a:t>               → errors       0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BFD2E4"/>
                </a:solidFill>
                <a:latin typeface="Consolas"/>
              </a:rPr>
              <a:t>               → warnings     7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BFD2E4"/>
                </a:solidFill>
                <a:latin typeface="Consolas"/>
              </a:rPr>
              <a:t>               → the feed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3209544"/>
            <a:ext cx="3593591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8A94A0"/>
                </a:solidFill>
                <a:latin typeface="Calibri"/>
              </a:rPr>
              <a:t>Same filter clause on each, so the strip and the table cannot disagree.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3749039"/>
            <a:ext cx="4050791" cy="2304288"/>
          </a:xfrm>
          <a:prstGeom prst="roundRect">
            <a:avLst>
              <a:gd name="adj" fmla="val 3000"/>
            </a:avLst>
          </a:prstGeom>
          <a:solidFill>
            <a:srgbClr val="16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3913632"/>
            <a:ext cx="35021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7FB2E5"/>
                </a:solidFill>
                <a:latin typeface="Cambria"/>
              </a:rPr>
              <a:t>Unified, not linked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4261104"/>
            <a:ext cx="3502152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E8EDF3"/>
                </a:solidFill>
                <a:latin typeface="Calibri"/>
              </a:rPr>
              <a:t>Diagnosis is chronological. When a night goes wrong the question is what happened, in order, and the answer spans pipelines.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E8EDF3"/>
                </a:solidFill>
                <a:latin typeface="Calibri"/>
              </a:rPr>
              <a:t>Per-pipeline logs make the reader interleave timestamps by hand. That is the work this feed removes.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E8EDF3"/>
                </a:solidFill>
                <a:latin typeface="Cambria"/>
              </a:rPr>
              <a:t>What the dashboard is for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>
                <a:solidFill>
                  <a:srgbClr val="8A94A0"/>
                </a:solidFill>
                <a:latin typeface="Calibri"/>
              </a:rPr>
              <a:t>Six behaviours, each built so nothing missing looks like nothing wrong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3566160" cy="2057400"/>
          </a:xfrm>
          <a:prstGeom prst="roundRect">
            <a:avLst>
              <a:gd name="adj" fmla="val 3000"/>
            </a:avLst>
          </a:prstGeom>
          <a:solidFill>
            <a:srgbClr val="1A2029"/>
          </a:solidFill>
          <a:ln w="9525">
            <a:solidFill>
              <a:srgbClr val="2A32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58191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D4AF37"/>
                </a:solidFill>
                <a:latin typeface="Consola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1947672"/>
            <a:ext cx="305409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8EDF3"/>
                </a:solidFill>
                <a:latin typeface="Cambria"/>
              </a:rPr>
              <a:t>Freshness before detail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377440"/>
            <a:ext cx="305409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8A94A0"/>
                </a:solidFill>
                <a:latin typeface="Calibri"/>
              </a:rPr>
              <a:t>The first thing on screen is when the platform last ran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1417320"/>
            <a:ext cx="3566160" cy="2057400"/>
          </a:xfrm>
          <a:prstGeom prst="roundRect">
            <a:avLst>
              <a:gd name="adj" fmla="val 3000"/>
            </a:avLst>
          </a:prstGeom>
          <a:solidFill>
            <a:srgbClr val="1A2029"/>
          </a:solidFill>
          <a:ln w="9525">
            <a:solidFill>
              <a:srgbClr val="2A32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58191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D4AF37"/>
                </a:solidFill>
                <a:latin typeface="Consola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947672"/>
            <a:ext cx="305409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8EDF3"/>
                </a:solidFill>
                <a:latin typeface="Cambria"/>
              </a:rPr>
              <a:t>Absence occupies a row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377440"/>
            <a:ext cx="305409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8A94A0"/>
                </a:solidFill>
                <a:latin typeface="Calibri"/>
              </a:rPr>
              <a:t>Grouping by pipeline means a silent failure renders as a stale date rather than as blank space. It is the single most important query decision on the Overview tab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83296" y="1417320"/>
            <a:ext cx="3566160" cy="2057400"/>
          </a:xfrm>
          <a:prstGeom prst="roundRect">
            <a:avLst>
              <a:gd name="adj" fmla="val 3000"/>
            </a:avLst>
          </a:prstGeom>
          <a:solidFill>
            <a:srgbClr val="1A2029"/>
          </a:solidFill>
          <a:ln w="9525">
            <a:solidFill>
              <a:srgbClr val="2A32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9327" y="158191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D4AF37"/>
                </a:solidFill>
                <a:latin typeface="Consolas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9327" y="1947672"/>
            <a:ext cx="305409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8EDF3"/>
                </a:solidFill>
                <a:latin typeface="Cambria"/>
              </a:rPr>
              <a:t>Success is verified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9327" y="2377440"/>
            <a:ext cx="305409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8A94A0"/>
                </a:solidFill>
                <a:latin typeface="Calibri"/>
              </a:rPr>
              <a:t>Row counts sit beside status, so a run that wrote nothing cannot pass for a healthy one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794760"/>
            <a:ext cx="3566160" cy="2057400"/>
          </a:xfrm>
          <a:prstGeom prst="roundRect">
            <a:avLst>
              <a:gd name="adj" fmla="val 3000"/>
            </a:avLst>
          </a:prstGeom>
          <a:solidFill>
            <a:srgbClr val="1A2029"/>
          </a:solidFill>
          <a:ln w="9525">
            <a:solidFill>
              <a:srgbClr val="2A32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593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D4AF37"/>
                </a:solidFill>
                <a:latin typeface="Consolas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325112"/>
            <a:ext cx="305409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8EDF3"/>
                </a:solidFill>
                <a:latin typeface="Cambria"/>
              </a:rPr>
              <a:t>Disagreement is queued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754880"/>
            <a:ext cx="305409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8A94A0"/>
                </a:solidFill>
                <a:latin typeface="Calibri"/>
              </a:rPr>
              <a:t>Conflicts become actions with a type, a severity and an owner. Nothing is averaged away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15968" y="3794760"/>
            <a:ext cx="3566160" cy="2057400"/>
          </a:xfrm>
          <a:prstGeom prst="roundRect">
            <a:avLst>
              <a:gd name="adj" fmla="val 3000"/>
            </a:avLst>
          </a:prstGeom>
          <a:solidFill>
            <a:srgbClr val="1A2029"/>
          </a:solidFill>
          <a:ln w="9525">
            <a:solidFill>
              <a:srgbClr val="2A32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39593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D4AF37"/>
                </a:solidFill>
                <a:latin typeface="Consolas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325112"/>
            <a:ext cx="305409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8EDF3"/>
                </a:solidFill>
                <a:latin typeface="Cambria"/>
              </a:rPr>
              <a:t>The queue stays workable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4754880"/>
            <a:ext cx="305409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8A94A0"/>
                </a:solidFill>
                <a:latin typeface="Calibri"/>
              </a:rPr>
              <a:t>Filters compose and bulk resolution follows them, which is what keeps 639 open actions usable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83296" y="3794760"/>
            <a:ext cx="3566160" cy="2057400"/>
          </a:xfrm>
          <a:prstGeom prst="roundRect">
            <a:avLst>
              <a:gd name="adj" fmla="val 3000"/>
            </a:avLst>
          </a:prstGeom>
          <a:solidFill>
            <a:srgbClr val="1A2029"/>
          </a:solidFill>
          <a:ln w="9525">
            <a:solidFill>
              <a:srgbClr val="2A32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39327" y="39593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D4AF37"/>
                </a:solidFill>
                <a:latin typeface="Consolas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9327" y="4325112"/>
            <a:ext cx="305409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8EDF3"/>
                </a:solidFill>
                <a:latin typeface="Cambria"/>
              </a:rPr>
              <a:t>The unmeasurable is measured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7" y="4754880"/>
            <a:ext cx="305409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8A94A0"/>
                </a:solidFill>
                <a:latin typeface="Calibri"/>
              </a:rPr>
              <a:t>Canonical truth beside the CRM reconstruction turns the walk-in gap into a number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94360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67737F"/>
                </a:solidFill>
                <a:latin typeface="Calibri"/>
              </a:rPr>
              <a:t>The reports answer questions about the portfolio. This answers questions about the platform that produces them.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686800" y="-1737360"/>
            <a:ext cx="6309360" cy="6309360"/>
          </a:xfrm>
          <a:prstGeom prst="ellipse">
            <a:avLst/>
          </a:prstGeom>
          <a:solidFill>
            <a:srgbClr val="16202C"/>
          </a:solidFill>
          <a:ln>
            <a:solidFill>
              <a:srgbClr val="162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149840" y="-365760"/>
            <a:ext cx="3383280" cy="3383280"/>
          </a:xfrm>
          <a:prstGeom prst="ellipse">
            <a:avLst/>
          </a:prstGeom>
          <a:solidFill>
            <a:srgbClr val="1D2B3A"/>
          </a:solidFill>
          <a:ln>
            <a:solidFill>
              <a:srgbClr val="1D2B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01168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D4AF37"/>
                </a:solidFill>
                <a:latin typeface="Calibri"/>
              </a:rPr>
              <a:t>NORTHSTAR INTELLIGENCE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86868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E8EDF3"/>
                </a:solidFill>
                <a:latin typeface="Cambria"/>
              </a:rPr>
              <a:t>A report on stale data</a:t>
            </a:r>
          </a:p>
          <a:p>
            <a:pPr algn="l">
              <a:spcAft>
                <a:spcPts val="200"/>
              </a:spcAft>
            </a:pPr>
            <a:r>
              <a:rPr sz="4000" b="1">
                <a:solidFill>
                  <a:srgbClr val="E8EDF3"/>
                </a:solidFill>
                <a:latin typeface="Cambria"/>
              </a:rPr>
              <a:t>is worse than one that fails.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66344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>
                <a:solidFill>
                  <a:srgbClr val="67737F"/>
                </a:solidFill>
                <a:latin typeface="Calibri"/>
              </a:rPr>
              <a:t>ETL Operations Dashboard  ·  Visual logic &amp; calculations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