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737360"/>
            <a:ext cx="6309360" cy="6309360"/>
          </a:xfrm>
          <a:prstGeom prst="ellipse">
            <a:avLst/>
          </a:prstGeom>
          <a:solidFill>
            <a:srgbClr val="16202C"/>
          </a:solidFill>
          <a:ln>
            <a:solidFill>
              <a:srgbClr val="1620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49840" y="-365760"/>
            <a:ext cx="3383280" cy="3383280"/>
          </a:xfrm>
          <a:prstGeom prst="ellipse">
            <a:avLst/>
          </a:prstGeom>
          <a:solidFill>
            <a:srgbClr val="1D2B3A"/>
          </a:solidFill>
          <a:ln>
            <a:solidFill>
              <a:srgbClr val="1D2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NORTHSTAR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76272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600" b="1">
                <a:solidFill>
                  <a:srgbClr val="E8EDF3"/>
                </a:solidFill>
                <a:latin typeface="Cambria"/>
              </a:rPr>
              <a:t>ETL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090672"/>
            <a:ext cx="8686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0">
                <a:solidFill>
                  <a:srgbClr val="7FB2E5"/>
                </a:solidFill>
                <a:latin typeface="Calibri"/>
              </a:rPr>
              <a:t>Visual logic &amp; calculations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794760"/>
            <a:ext cx="7680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8A94A0"/>
                </a:solidFill>
                <a:latin typeface="Calibri"/>
              </a:rPr>
              <a:t>Five tabs answering questions about the platform itself rather than the portfolio —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8A94A0"/>
                </a:solidFill>
                <a:latin typeface="Calibri"/>
              </a:rPr>
              <a:t>what each one shows, the query behind it, and the decision it is built to support.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12064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7737F"/>
                </a:solidFill>
                <a:latin typeface="Calibri"/>
              </a:rPr>
              <a:t>Served by the Azure Function App at /api/dashboard  ·  captured 01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E8EDF3"/>
                </a:solidFill>
                <a:latin typeface="Cambria"/>
              </a:rPr>
              <a:t>The shell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8A94A0"/>
                </a:solidFill>
                <a:latin typeface="Calibri"/>
              </a:rPr>
              <a:t>One route, five renderers, and a failure mode that keeps the navigation alive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541264" cy="2651760"/>
          </a:xfrm>
          <a:prstGeom prst="roundRect">
            <a:avLst>
              <a:gd name="adj" fmla="val 3000"/>
            </a:avLst>
          </a:prstGeom>
          <a:solidFill>
            <a:srgbClr val="0C1219"/>
          </a:solidFill>
          <a:ln w="9525">
            <a:solidFill>
              <a:srgbClr val="2B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53895"/>
            <a:ext cx="508406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Calibri"/>
              </a:rPr>
              <a:t>ROUTING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46504"/>
            <a:ext cx="5084064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BFD2E4"/>
                </a:solidFill>
                <a:latin typeface="Consolas"/>
              </a:rPr>
              <a:t>/api/dashboard?tab=overview        did it run?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BFD2E4"/>
                </a:solidFill>
                <a:latin typeface="Consolas"/>
              </a:rPr>
              <a:t>                  =runs            what is the record?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BFD2E4"/>
                </a:solidFill>
                <a:latin typeface="Consolas"/>
              </a:rPr>
              <a:t>                  =reconciliation  what disagreed?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BFD2E4"/>
                </a:solidFill>
                <a:latin typeface="Consolas"/>
              </a:rPr>
              <a:t>                  =attribution     what has no trail?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BFD2E4"/>
                </a:solidFill>
                <a:latin typeface="Consolas"/>
              </a:rPr>
              <a:t>                  =activity        what happened, in order?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BFD2E4"/>
                </a:solidFill>
                <a:latin typeface="Consolas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BFD2E4"/>
                </a:solidFill>
                <a:latin typeface="Consolas"/>
              </a:rPr>
              <a:t>unrecognised tab → list of valid tabs, not an error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48456"/>
            <a:ext cx="508406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8A94A0"/>
                </a:solidFill>
                <a:latin typeface="Calibri"/>
              </a:rPr>
              <a:t>Each renderer returns a body and a title; a shared shell adds navigation and styling.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160520"/>
            <a:ext cx="5541264" cy="1892807"/>
          </a:xfrm>
          <a:prstGeom prst="roundRect">
            <a:avLst>
              <a:gd name="adj" fmla="val 3000"/>
            </a:avLst>
          </a:prstGeom>
          <a:solidFill>
            <a:srgbClr val="0C1219"/>
          </a:solidFill>
          <a:ln w="9525">
            <a:solidFill>
              <a:srgbClr val="2B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288536"/>
            <a:ext cx="508406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Calibri"/>
              </a:rPr>
              <a:t>THE OTHER ROUTES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581144"/>
            <a:ext cx="5084064" cy="1069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BFD2E4"/>
                </a:solidFill>
                <a:latin typeface="Consolas"/>
              </a:rPr>
              <a:t>read     five tab renderers + health as JSON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BFD2E4"/>
                </a:solidFill>
                <a:latin typeface="Consolas"/>
              </a:rPr>
              <a:t>write    resolve one action, or all matching the filter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BFD2E4"/>
                </a:solidFill>
                <a:latin typeface="Consolas"/>
              </a:rPr>
              <a:t>export   CSV of runs, reconciliation, attribution, activity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724143"/>
            <a:ext cx="508406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8A94A0"/>
                </a:solidFill>
                <a:latin typeface="Calibri"/>
              </a:rPr>
              <a:t>Server-rendered HTML, no client framework.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325880"/>
            <a:ext cx="5330952" cy="2651760"/>
          </a:xfrm>
          <a:prstGeom prst="roundRect">
            <a:avLst>
              <a:gd name="adj" fmla="val 3000"/>
            </a:avLst>
          </a:prstGeom>
          <a:solidFill>
            <a:srgbClr val="1A2029"/>
          </a:solidFill>
          <a:ln w="9525">
            <a:solidFill>
              <a:srgbClr val="2A3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463039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7FB2E5"/>
                </a:solidFill>
                <a:latin typeface="Cambria"/>
              </a:rPr>
              <a:t>Why one route, not five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783080"/>
            <a:ext cx="4873752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E8EDF3"/>
                </a:solidFill>
                <a:latin typeface="Calibri"/>
              </a:rPr>
              <a:t>A ?tab= parameter selects the renderer, so navigation state lives in the URL. Any tab can be linked to, bookmarked, or sent to someone mid-investigation.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E8EDF3"/>
                </a:solidFill>
                <a:latin typeface="Calibr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E8EDF3"/>
                </a:solidFill>
                <a:latin typeface="Calibri"/>
              </a:rPr>
              <a:t>The alert banner is rendered by the shell rather than by any tab, so a problem found on one screen stays visible on all of them. At capture time it reads: 10 open high-severity actions, and 2 days missing from bronze in the last 7.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4160520"/>
            <a:ext cx="5330952" cy="1892807"/>
          </a:xfrm>
          <a:prstGeom prst="roundRect">
            <a:avLst>
              <a:gd name="adj" fmla="val 3000"/>
            </a:avLst>
          </a:prstGeom>
          <a:solidFill>
            <a:srgbClr val="1A2029"/>
          </a:solidFill>
          <a:ln w="9525">
            <a:solidFill>
              <a:srgbClr val="2A3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4297680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7FB2E5"/>
                </a:solidFill>
                <a:latin typeface="Cambria"/>
              </a:rPr>
              <a:t>Failure behaviour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617720"/>
            <a:ext cx="4873752" cy="1252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E8EDF3"/>
                </a:solidFill>
                <a:latin typeface="Calibri"/>
              </a:rPr>
              <a:t>If a renderer throws, the router catches it and returns a styled panel naming the tab and the exception, navigation intact.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E8EDF3"/>
                </a:solidFill>
                <a:latin typeface="Calibr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E8EDF3"/>
                </a:solidFill>
                <a:latin typeface="Calibri"/>
              </a:rPr>
              <a:t>One broken tab never takes down the dashboard — and never presents as an empty 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E8EDF3"/>
                </a:solidFill>
                <a:latin typeface="Cambria"/>
              </a:rPr>
              <a:t>1 · Overview — did it run?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8A94A0"/>
                </a:solidFill>
                <a:latin typeface="Calibri"/>
              </a:rPr>
              <a:t>Freshness and backlog in the same strip, then the latest run of every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94002"/>
            <a:ext cx="6720840" cy="4163771"/>
          </a:xfrm>
          <a:prstGeom prst="roundRect">
            <a:avLst>
              <a:gd name="adj" fmla="val 2000"/>
            </a:avLst>
          </a:prstGeom>
          <a:solidFill>
            <a:srgbClr val="F7F8FA"/>
          </a:solidFill>
          <a:ln w="9525">
            <a:solidFill>
              <a:srgbClr val="2B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ov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85442"/>
            <a:ext cx="6537959" cy="398089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89520" y="1298448"/>
            <a:ext cx="4050791" cy="2377440"/>
          </a:xfrm>
          <a:prstGeom prst="roundRect">
            <a:avLst>
              <a:gd name="adj" fmla="val 3000"/>
            </a:avLst>
          </a:prstGeom>
          <a:solidFill>
            <a:srgbClr val="0C1219"/>
          </a:solidFill>
          <a:ln w="9525">
            <a:solidFill>
              <a:srgbClr val="2B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426464"/>
            <a:ext cx="3593591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Calibri"/>
              </a:rPr>
              <a:t>LAST RUN PER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1719072"/>
            <a:ext cx="3593591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BFD2E4"/>
                </a:solidFill>
                <a:latin typeface="Consolas"/>
              </a:rPr>
              <a:t>SELECT PipelineKey,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BFD2E4"/>
                </a:solidFill>
                <a:latin typeface="Consolas"/>
              </a:rPr>
              <a:t>       MAX(RunId) AS LatestRunId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BFD2E4"/>
                </a:solidFill>
                <a:latin typeface="Consolas"/>
              </a:rPr>
              <a:t>FROM   pipeline.pipeline_runs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BFD2E4"/>
                </a:solidFill>
                <a:latin typeface="Consolas"/>
              </a:rPr>
              <a:t>GROUP  BY PipelineKey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3346703"/>
            <a:ext cx="3593591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8A94A0"/>
                </a:solidFill>
                <a:latin typeface="Calibri"/>
              </a:rPr>
              <a:t>Not a TOP 6 — that would return six runs of the same busy pipeline.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3840480"/>
            <a:ext cx="4050791" cy="2212848"/>
          </a:xfrm>
          <a:prstGeom prst="roundRect">
            <a:avLst>
              <a:gd name="adj" fmla="val 3000"/>
            </a:avLst>
          </a:prstGeom>
          <a:solidFill>
            <a:srgbClr val="1A2029"/>
          </a:solidFill>
          <a:ln w="9525">
            <a:solidFill>
              <a:srgbClr val="2A3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3977640"/>
            <a:ext cx="359359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7FB2E5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4297680"/>
            <a:ext cx="3593591" cy="1572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E8EDF3"/>
                </a:solidFill>
                <a:latin typeface="Calibri"/>
              </a:rPr>
              <a:t>Grouping by pipeline means every pipeline occupies a row whether it ran last night or last week.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E8EDF3"/>
                </a:solidFill>
                <a:latin typeface="Calibr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E8EDF3"/>
                </a:solidFill>
                <a:latin typeface="Calibri"/>
              </a:rPr>
              <a:t>A stale date in that table is how an absence becomes visible. A query that returned only recent runs would render a silent failure as nothing at all.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E8EDF3"/>
                </a:solidFill>
                <a:latin typeface="Cambria"/>
              </a:rPr>
              <a:t>1 · Overview — the panels beneath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8A94A0"/>
                </a:solidFill>
                <a:latin typeface="Calibri"/>
              </a:rPr>
              <a:t>A log-scale trend, an action distribution, and a cross-tab that reads two ways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899672"/>
            <a:ext cx="5541264" cy="2076175"/>
          </a:xfrm>
          <a:prstGeom prst="roundRect">
            <a:avLst>
              <a:gd name="adj" fmla="val 2000"/>
            </a:avLst>
          </a:prstGeom>
          <a:solidFill>
            <a:srgbClr val="F7F8FA"/>
          </a:solidFill>
          <a:ln w="9525">
            <a:solidFill>
              <a:srgbClr val="2B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ov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991112"/>
            <a:ext cx="5358383" cy="189329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1298448"/>
            <a:ext cx="5541264" cy="2331720"/>
          </a:xfrm>
          <a:prstGeom prst="roundRect">
            <a:avLst>
              <a:gd name="adj" fmla="val 3000"/>
            </a:avLst>
          </a:prstGeom>
          <a:solidFill>
            <a:srgbClr val="0C1219"/>
          </a:solidFill>
          <a:ln w="9525">
            <a:solidFill>
              <a:srgbClr val="2B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26464"/>
            <a:ext cx="508406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Calibri"/>
              </a:rPr>
              <a:t>WHY THE TREND IS LOG SCALE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5084064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BFD2E4"/>
                </a:solidFill>
                <a:latin typeface="Consolas"/>
              </a:rPr>
              <a:t>CANONICAL   9,979    ────────────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BFD2E4"/>
                </a:solidFill>
                <a:latin typeface="Consolas"/>
              </a:rPr>
              <a:t>SPEND         240    ──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BFD2E4"/>
                </a:solidFill>
                <a:latin typeface="Consolas"/>
              </a:rPr>
              <a:t>CRM           180    ──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BFD2E4"/>
                </a:solidFill>
                <a:latin typeface="Consolas"/>
              </a:rPr>
              <a:t>OPS           120    ─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BFD2E4"/>
                </a:solidFill>
                <a:latin typeface="Consolas"/>
              </a:rPr>
              <a:t>BRONZE         14    ·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BFD2E4"/>
                </a:solidFill>
                <a:latin typeface="Consolas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BFD2E4"/>
                </a:solidFill>
                <a:latin typeface="Consolas"/>
              </a:rPr>
              <a:t>linear axis → four of five pipelines flatline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00984"/>
            <a:ext cx="508406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8A94A0"/>
                </a:solidFill>
                <a:latin typeface="Calibri"/>
              </a:rPr>
              <a:t>A gap in the line means a night with no successful run.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298448"/>
            <a:ext cx="5330952" cy="2331720"/>
          </a:xfrm>
          <a:prstGeom prst="roundRect">
            <a:avLst>
              <a:gd name="adj" fmla="val 3000"/>
            </a:avLst>
          </a:prstGeom>
          <a:solidFill>
            <a:srgbClr val="1A2029"/>
          </a:solidFill>
          <a:ln w="9525">
            <a:solidFill>
              <a:srgbClr val="2A3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435607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7FB2E5"/>
                </a:solidFill>
                <a:latin typeface="Cambria"/>
              </a:rPr>
              <a:t>Action distribution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755648"/>
            <a:ext cx="4873752" cy="1691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E8EDF3"/>
                </a:solidFill>
                <a:latin typeface="Calibri"/>
              </a:rPr>
              <a:t>Every reconciliation action grouped by type, with the high-severity count split out beside the total.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E8EDF3"/>
                </a:solidFill>
                <a:latin typeface="Calibr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E8EDF3"/>
                </a:solidFill>
                <a:latin typeface="Calibri"/>
              </a:rPr>
              <a:t>SPEND_DIVERGENCE_UNRESOLVED carries 56,640 actions and zero high severity — volume without urgency. MISSING_FOLDER carries 6 actions, all six high. Both facts are legible in the same row, which a single total would have hidden.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794760"/>
            <a:ext cx="5330952" cy="2286000"/>
          </a:xfrm>
          <a:prstGeom prst="roundRect">
            <a:avLst>
              <a:gd name="adj" fmla="val 3000"/>
            </a:avLst>
          </a:prstGeom>
          <a:solidFill>
            <a:srgbClr val="1A2029"/>
          </a:solidFill>
          <a:ln w="9525">
            <a:solidFill>
              <a:srgbClr val="2A3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3931920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7FB2E5"/>
                </a:solidFill>
                <a:latin typeface="Cambria"/>
              </a:rPr>
              <a:t>The cross-tab reads two ways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4251960"/>
            <a:ext cx="4873752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E8EDF3"/>
                </a:solidFill>
                <a:latin typeface="Calibri"/>
              </a:rPr>
              <a:t>Five business dates as rows, pipelines as columns. Reading down a column shows whether one pipeline is unreliable; reading across a row shows whether one night failed broadly.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E8EDF3"/>
                </a:solidFill>
                <a:latin typeface="Calibr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E8EDF3"/>
                </a:solidFill>
                <a:latin typeface="Calibri"/>
              </a:rPr>
              <a:t>The em dash against BRONZE on 2026-07-30 is the case that matters: the other four pipelines succeeded that night, so bronze produced its files and failed only to record the fact.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E8EDF3"/>
                </a:solidFill>
                <a:latin typeface="Cambria"/>
              </a:rPr>
              <a:t>2 · Run history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8A94A0"/>
                </a:solidFill>
                <a:latin typeface="Calibri"/>
              </a:rPr>
              <a:t>The execution ledger — status, duration, and what was actually written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95205"/>
            <a:ext cx="5989320" cy="4561365"/>
          </a:xfrm>
          <a:prstGeom prst="roundRect">
            <a:avLst>
              <a:gd name="adj" fmla="val 2000"/>
            </a:avLst>
          </a:prstGeom>
          <a:solidFill>
            <a:srgbClr val="F7F8FA"/>
          </a:solidFill>
          <a:ln w="9525">
            <a:solidFill>
              <a:srgbClr val="2B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uns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86645"/>
            <a:ext cx="5806440" cy="437848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720840" y="1298448"/>
            <a:ext cx="4919472" cy="2331720"/>
          </a:xfrm>
          <a:prstGeom prst="roundRect">
            <a:avLst>
              <a:gd name="adj" fmla="val 3000"/>
            </a:avLst>
          </a:prstGeom>
          <a:solidFill>
            <a:srgbClr val="0C1219"/>
          </a:solidFill>
          <a:ln w="9525">
            <a:solidFill>
              <a:srgbClr val="2B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1426464"/>
            <a:ext cx="446227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Calibri"/>
              </a:rPr>
              <a:t>STATUS VOCABULARY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1719072"/>
            <a:ext cx="4462272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BFD2E4"/>
                </a:solidFill>
                <a:latin typeface="Consolas"/>
              </a:rPr>
              <a:t>SUCCESS              completed, rows written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BFD2E4"/>
                </a:solidFill>
                <a:latin typeface="Consolas"/>
              </a:rPr>
              <a:t>FAILED               crashed or threw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BFD2E4"/>
                </a:solidFill>
                <a:latin typeface="Consolas"/>
              </a:rPr>
              <a:t>RUNNING              started, no end recorded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BFD2E4"/>
                </a:solidFill>
                <a:latin typeface="Consolas"/>
              </a:rPr>
              <a:t>ROW_COUNT_MISMATCH   wrote, did not reconcile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BFD2E4"/>
                </a:solidFill>
                <a:latin typeface="Consolas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BFD2E4"/>
                </a:solidFill>
                <a:latin typeface="Consolas"/>
              </a:rPr>
              <a:t>135 runs · 98.5% over 30d · 27s average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3300984"/>
            <a:ext cx="446227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8A94A0"/>
                </a:solidFill>
                <a:latin typeface="Calibri"/>
              </a:rPr>
              <a:t>A mismatch is deliberately not a failure — it is a different problem from a crash.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3794760"/>
            <a:ext cx="4919472" cy="2258568"/>
          </a:xfrm>
          <a:prstGeom prst="roundRect">
            <a:avLst>
              <a:gd name="adj" fmla="val 3000"/>
            </a:avLst>
          </a:prstGeom>
          <a:solidFill>
            <a:srgbClr val="1A2029"/>
          </a:solidFill>
          <a:ln w="9525">
            <a:solidFill>
              <a:srgbClr val="2A3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931920"/>
            <a:ext cx="44622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7FB2E5"/>
                </a:solidFill>
                <a:latin typeface="Cambria"/>
              </a:rPr>
              <a:t>Why rows loaded sits beside 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4251960"/>
            <a:ext cx="4462272" cy="1618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E8EDF3"/>
                </a:solidFill>
                <a:latin typeface="Calibri"/>
              </a:rPr>
              <a:t>A run can finish SUCCESS and have written nothing. Putting the row count next to the status makes an empty success visible immediately.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E8EDF3"/>
                </a:solidFill>
                <a:latin typeface="Calibr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E8EDF3"/>
                </a:solidFill>
                <a:latin typeface="Calibri"/>
              </a:rPr>
              <a:t>That was a real defect this platform carried, before the publisher was changed to fail on a zero-row write.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E8EDF3"/>
                </a:solidFill>
                <a:latin typeface="Cambria"/>
              </a:rPr>
              <a:t>3 · Reconciliation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8A94A0"/>
                </a:solidFill>
                <a:latin typeface="Calibri"/>
              </a:rPr>
              <a:t>The only tab that is a workflow rather than a report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52193"/>
            <a:ext cx="5989320" cy="3847388"/>
          </a:xfrm>
          <a:prstGeom prst="roundRect">
            <a:avLst>
              <a:gd name="adj" fmla="val 2000"/>
            </a:avLst>
          </a:prstGeom>
          <a:solidFill>
            <a:srgbClr val="F7F8FA"/>
          </a:solidFill>
          <a:ln w="9525">
            <a:solidFill>
              <a:srgbClr val="2B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ec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43633"/>
            <a:ext cx="5806440" cy="366450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720840" y="1298448"/>
            <a:ext cx="4919472" cy="2395728"/>
          </a:xfrm>
          <a:prstGeom prst="roundRect">
            <a:avLst>
              <a:gd name="adj" fmla="val 3000"/>
            </a:avLst>
          </a:prstGeom>
          <a:solidFill>
            <a:srgbClr val="0C1219"/>
          </a:solidFill>
          <a:ln w="9525">
            <a:solidFill>
              <a:srgbClr val="2B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1426464"/>
            <a:ext cx="446227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Calibri"/>
              </a:rPr>
              <a:t>THREE COMPOSING FILTERS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1719072"/>
            <a:ext cx="4462272" cy="1572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BFD2E4"/>
                </a:solidFill>
                <a:latin typeface="Consolas"/>
              </a:rPr>
              <a:t>source     spend · ops · crm · attribution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BFD2E4"/>
                </a:solidFill>
                <a:latin typeface="Consolas"/>
              </a:rPr>
              <a:t>status     open · ack · resolved · ignored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BFD2E4"/>
                </a:solidFill>
                <a:latin typeface="Consolas"/>
              </a:rPr>
              <a:t>severity   high · medium · low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BFD2E4"/>
                </a:solidFill>
                <a:latin typeface="Consolas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BFD2E4"/>
                </a:solidFill>
                <a:latin typeface="Consolas"/>
              </a:rPr>
              <a:t>1,126 actions → 639 open · 497 high · 629 medium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3364992"/>
            <a:ext cx="446227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8A94A0"/>
                </a:solidFill>
                <a:latin typeface="Calibri"/>
              </a:rPr>
              <a:t>Chips rather than dropdowns, so the current filter state is always on screen.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3858768"/>
            <a:ext cx="4919472" cy="2194560"/>
          </a:xfrm>
          <a:prstGeom prst="roundRect">
            <a:avLst>
              <a:gd name="adj" fmla="val 3000"/>
            </a:avLst>
          </a:prstGeom>
          <a:solidFill>
            <a:srgbClr val="1A2029"/>
          </a:solidFill>
          <a:ln w="9525">
            <a:solidFill>
              <a:srgbClr val="2A3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995928"/>
            <a:ext cx="44622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7FB2E5"/>
                </a:solidFill>
                <a:latin typeface="Cambria"/>
              </a:rPr>
              <a:t>Bulk applies to the filter, not the 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4315968"/>
            <a:ext cx="4462272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E8EDF3"/>
                </a:solidFill>
                <a:latin typeface="Calibri"/>
              </a:rPr>
              <a:t>Acknowledging all filtered acts on every matching row, not the 25 currently visible. Working a queue of 639 one page at a time is not workable.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E8EDF3"/>
                </a:solidFill>
                <a:latin typeface="Calibr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E8EDF3"/>
                </a:solidFill>
                <a:latin typeface="Calibri"/>
              </a:rPr>
              <a:t>The narrowing is the safeguard: a reader must first reduce the set to one source and one severity, and that act of narrowing is what prevents clearing too much.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E8EDF3"/>
                </a:solidFill>
                <a:latin typeface="Cambria"/>
              </a:rPr>
              <a:t>4 · Attribution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8A94A0"/>
                </a:solidFill>
                <a:latin typeface="Calibri"/>
              </a:rPr>
              <a:t>Two sources of the same truth, differenced — and the difference is the finding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2895" y="1298448"/>
            <a:ext cx="6078008" cy="4754880"/>
          </a:xfrm>
          <a:prstGeom prst="roundRect">
            <a:avLst>
              <a:gd name="adj" fmla="val 2000"/>
            </a:avLst>
          </a:prstGeom>
          <a:solidFill>
            <a:srgbClr val="F7F8FA"/>
          </a:solidFill>
          <a:ln w="9525">
            <a:solidFill>
              <a:srgbClr val="2B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tt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335" y="1389888"/>
            <a:ext cx="5895128" cy="457199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78040" y="1298448"/>
            <a:ext cx="4462272" cy="2395728"/>
          </a:xfrm>
          <a:prstGeom prst="roundRect">
            <a:avLst>
              <a:gd name="adj" fmla="val 3000"/>
            </a:avLst>
          </a:prstGeom>
          <a:solidFill>
            <a:srgbClr val="0C1219"/>
          </a:solidFill>
          <a:ln w="9525">
            <a:solidFill>
              <a:srgbClr val="2B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0" y="1426464"/>
            <a:ext cx="400507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Calibri"/>
              </a:rPr>
              <a:t>THE SUBTRACTION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1719072"/>
            <a:ext cx="4005072" cy="1572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BFD2E4"/>
                </a:solidFill>
                <a:latin typeface="Consolas"/>
              </a:rPr>
              <a:t>operational (DS=1)   6,896   canonical truth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BFD2E4"/>
                </a:solidFill>
                <a:latin typeface="Consolas"/>
              </a:rPr>
              <a:t>attributable (DS=2)  5,364   CRM rebuild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BFD2E4"/>
                </a:solidFill>
                <a:latin typeface="Consolas"/>
              </a:rPr>
              <a:t>                    ──────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BFD2E4"/>
                </a:solidFill>
                <a:latin typeface="Consolas"/>
              </a:rPr>
              <a:t>walk-in gap          1,532   22.2%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BFD2E4"/>
                </a:solidFill>
                <a:latin typeface="Consolas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BFD2E4"/>
                </a:solidFill>
                <a:latin typeface="Consolas"/>
              </a:rPr>
              <a:t>≈ 13.00 leases per day with no marketing trail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3364992"/>
            <a:ext cx="400507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8A94A0"/>
                </a:solidFill>
                <a:latin typeface="Calibri"/>
              </a:rPr>
              <a:t>Leases that happened, carrying no attributable acquisition path.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78040" y="3858768"/>
            <a:ext cx="4462272" cy="2194560"/>
          </a:xfrm>
          <a:prstGeom prst="roundRect">
            <a:avLst>
              <a:gd name="adj" fmla="val 3000"/>
            </a:avLst>
          </a:prstGeom>
          <a:solidFill>
            <a:srgbClr val="1A2029"/>
          </a:solidFill>
          <a:ln w="9525">
            <a:solidFill>
              <a:srgbClr val="2A3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3995928"/>
            <a:ext cx="4005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7FB2E5"/>
                </a:solidFill>
                <a:latin typeface="Cambria"/>
              </a:rPr>
              <a:t>Why this is possible here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4315968"/>
            <a:ext cx="4005072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E8EDF3"/>
                </a:solidFill>
                <a:latin typeface="Calibri"/>
              </a:rPr>
              <a:t>The platform holds a canonical record of what happened beside the CRM's reconstruction of it, so the two can be differenced.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E8EDF3"/>
                </a:solidFill>
                <a:latin typeface="Calibr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E8EDF3"/>
                </a:solidFill>
                <a:latin typeface="Calibri"/>
              </a:rPr>
              <a:t>A real operator has only the CRM view and therefore cannot see what it is missing. Holding both makes the invisible measurable — and a wide gap is walk-ins and referrals behaving normally, not a data quality failure.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E8EDF3"/>
                </a:solidFill>
                <a:latin typeface="Cambria"/>
              </a:rPr>
              <a:t>5 · Activity 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8A94A0"/>
                </a:solidFill>
                <a:latin typeface="Calibri"/>
              </a:rPr>
              <a:t>Every pipeline's events unioned into one chronological feed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8107"/>
            <a:ext cx="5989320" cy="4135560"/>
          </a:xfrm>
          <a:prstGeom prst="roundRect">
            <a:avLst>
              <a:gd name="adj" fmla="val 2000"/>
            </a:avLst>
          </a:prstGeom>
          <a:solidFill>
            <a:srgbClr val="F7F8FA"/>
          </a:solidFill>
          <a:ln w="9525">
            <a:solidFill>
              <a:srgbClr val="2B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ct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9547"/>
            <a:ext cx="5806440" cy="3952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720840" y="1298448"/>
            <a:ext cx="4919472" cy="2331720"/>
          </a:xfrm>
          <a:prstGeom prst="roundRect">
            <a:avLst>
              <a:gd name="adj" fmla="val 3000"/>
            </a:avLst>
          </a:prstGeom>
          <a:solidFill>
            <a:srgbClr val="0C1219"/>
          </a:solidFill>
          <a:ln w="9525">
            <a:solidFill>
              <a:srgbClr val="2B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1426464"/>
            <a:ext cx="446227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Calibri"/>
              </a:rPr>
              <a:t>ONE CTE, FOUR CONSUMERS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1719072"/>
            <a:ext cx="4462272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BFD2E4"/>
                </a:solidFill>
                <a:latin typeface="Consolas"/>
              </a:rPr>
              <a:t>unioned events → total count      40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BFD2E4"/>
                </a:solidFill>
                <a:latin typeface="Consolas"/>
              </a:rPr>
              <a:t>               → error count       0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BFD2E4"/>
                </a:solidFill>
                <a:latin typeface="Consolas"/>
              </a:rPr>
              <a:t>               → warning count     7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BFD2E4"/>
                </a:solidFill>
                <a:latin typeface="Consolas"/>
              </a:rPr>
              <a:t>               → the feed itself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BFD2E4"/>
                </a:solidFill>
                <a:latin typeface="Consolas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BFD2E4"/>
                </a:solidFill>
                <a:latin typeface="Consolas"/>
              </a:rPr>
              <a:t>same filter clause applied to each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3300984"/>
            <a:ext cx="446227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8A94A0"/>
                </a:solidFill>
                <a:latin typeface="Calibri"/>
              </a:rPr>
              <a:t>The KPI strip and the table can therefore never disagree about what is shown.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3794760"/>
            <a:ext cx="4919472" cy="2258568"/>
          </a:xfrm>
          <a:prstGeom prst="roundRect">
            <a:avLst>
              <a:gd name="adj" fmla="val 3000"/>
            </a:avLst>
          </a:prstGeom>
          <a:solidFill>
            <a:srgbClr val="1A2029"/>
          </a:solidFill>
          <a:ln w="9525">
            <a:solidFill>
              <a:srgbClr val="2A3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931920"/>
            <a:ext cx="44622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7FB2E5"/>
                </a:solidFill>
                <a:latin typeface="Cambria"/>
              </a:rPr>
              <a:t>Why unify rather than link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4251960"/>
            <a:ext cx="4462272" cy="1618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E8EDF3"/>
                </a:solidFill>
                <a:latin typeface="Calibri"/>
              </a:rPr>
              <a:t>Diagnosis is chronological. When a night goes wrong the useful question is what happened, in order — and that answer spans pipelines.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E8EDF3"/>
                </a:solidFill>
                <a:latin typeface="Calibr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E8EDF3"/>
                </a:solidFill>
                <a:latin typeface="Calibri"/>
              </a:rPr>
              <a:t>Separate per-pipeline logs force the reader to interleave timestamps by hand, which is exactly the work the feed exists to remove.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E8EDF3"/>
                </a:solidFill>
                <a:latin typeface="Cambria"/>
              </a:rPr>
              <a:t>What the dashboard is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8A94A0"/>
                </a:solidFill>
                <a:latin typeface="Calibri"/>
              </a:rPr>
              <a:t>Six behaviours, each built so that nothing missing looks like nothing wrong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3566160" cy="2057400"/>
          </a:xfrm>
          <a:prstGeom prst="roundRect">
            <a:avLst>
              <a:gd name="adj" fmla="val 3000"/>
            </a:avLst>
          </a:prstGeom>
          <a:solidFill>
            <a:srgbClr val="1A2029"/>
          </a:solidFill>
          <a:ln w="9525">
            <a:solidFill>
              <a:srgbClr val="2A3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5819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D4AF37"/>
                </a:solidFill>
                <a:latin typeface="Consola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947672"/>
            <a:ext cx="30540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8EDF3"/>
                </a:solidFill>
                <a:latin typeface="Cambria"/>
              </a:rPr>
              <a:t>Freshness before detail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377440"/>
            <a:ext cx="305409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8A94A0"/>
                </a:solidFill>
                <a:latin typeface="Calibri"/>
              </a:rPr>
              <a:t>The first thing on screen is when the platform last ran, not what the data says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1417320"/>
            <a:ext cx="3566160" cy="2057400"/>
          </a:xfrm>
          <a:prstGeom prst="roundRect">
            <a:avLst>
              <a:gd name="adj" fmla="val 3000"/>
            </a:avLst>
          </a:prstGeom>
          <a:solidFill>
            <a:srgbClr val="1A2029"/>
          </a:solidFill>
          <a:ln w="9525">
            <a:solidFill>
              <a:srgbClr val="2A3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5819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D4AF37"/>
                </a:solidFill>
                <a:latin typeface="Consola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947672"/>
            <a:ext cx="30540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8EDF3"/>
                </a:solidFill>
                <a:latin typeface="Cambria"/>
              </a:rPr>
              <a:t>Absence occupies a row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377440"/>
            <a:ext cx="305409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8A94A0"/>
                </a:solidFill>
                <a:latin typeface="Calibri"/>
              </a:rPr>
              <a:t>Grouping by pipeline means a silent failure renders as a stale date, never as blank space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3296" y="1417320"/>
            <a:ext cx="3566160" cy="2057400"/>
          </a:xfrm>
          <a:prstGeom prst="roundRect">
            <a:avLst>
              <a:gd name="adj" fmla="val 3000"/>
            </a:avLst>
          </a:prstGeom>
          <a:solidFill>
            <a:srgbClr val="1A2029"/>
          </a:solidFill>
          <a:ln w="9525">
            <a:solidFill>
              <a:srgbClr val="2A3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9327" y="15819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D4AF37"/>
                </a:solidFill>
                <a:latin typeface="Consola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9327" y="1947672"/>
            <a:ext cx="30540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8EDF3"/>
                </a:solidFill>
                <a:latin typeface="Cambria"/>
              </a:rPr>
              <a:t>Success is verified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7" y="2377440"/>
            <a:ext cx="305409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8A94A0"/>
                </a:solidFill>
                <a:latin typeface="Calibri"/>
              </a:rPr>
              <a:t>Row counts sit beside status, so a run that wrote nothing cannot look healthy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94760"/>
            <a:ext cx="3566160" cy="2057400"/>
          </a:xfrm>
          <a:prstGeom prst="roundRect">
            <a:avLst>
              <a:gd name="adj" fmla="val 3000"/>
            </a:avLst>
          </a:prstGeom>
          <a:solidFill>
            <a:srgbClr val="1A2029"/>
          </a:solidFill>
          <a:ln w="9525">
            <a:solidFill>
              <a:srgbClr val="2A3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59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D4AF37"/>
                </a:solidFill>
                <a:latin typeface="Consola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325112"/>
            <a:ext cx="30540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8EDF3"/>
                </a:solidFill>
                <a:latin typeface="Cambria"/>
              </a:rPr>
              <a:t>Disagreement is queued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4754880"/>
            <a:ext cx="305409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8A94A0"/>
                </a:solidFill>
                <a:latin typeface="Calibri"/>
              </a:rPr>
              <a:t>Source conflicts become actions with a type, a severity and an owner, not averaged-away noise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15968" y="3794760"/>
            <a:ext cx="3566160" cy="2057400"/>
          </a:xfrm>
          <a:prstGeom prst="roundRect">
            <a:avLst>
              <a:gd name="adj" fmla="val 3000"/>
            </a:avLst>
          </a:prstGeom>
          <a:solidFill>
            <a:srgbClr val="1A2029"/>
          </a:solidFill>
          <a:ln w="9525">
            <a:solidFill>
              <a:srgbClr val="2A3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3959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D4AF37"/>
                </a:solidFill>
                <a:latin typeface="Consolas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325112"/>
            <a:ext cx="30540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8EDF3"/>
                </a:solidFill>
                <a:latin typeface="Cambria"/>
              </a:rPr>
              <a:t>Work is filterable and bulk-resolvable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754880"/>
            <a:ext cx="305409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8A94A0"/>
                </a:solidFill>
                <a:latin typeface="Calibri"/>
              </a:rPr>
              <a:t>The queue stays usable at 639 open actions, with the filter itself as the safeguard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83296" y="3794760"/>
            <a:ext cx="3566160" cy="2057400"/>
          </a:xfrm>
          <a:prstGeom prst="roundRect">
            <a:avLst>
              <a:gd name="adj" fmla="val 3000"/>
            </a:avLst>
          </a:prstGeom>
          <a:solidFill>
            <a:srgbClr val="1A2029"/>
          </a:solidFill>
          <a:ln w="9525">
            <a:solidFill>
              <a:srgbClr val="2A3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9327" y="3959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D4AF37"/>
                </a:solidFill>
                <a:latin typeface="Consolas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7" y="4325112"/>
            <a:ext cx="30540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8EDF3"/>
                </a:solidFill>
                <a:latin typeface="Cambria"/>
              </a:rPr>
              <a:t>The unmeasurable is measured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7" y="4754880"/>
            <a:ext cx="305409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8A94A0"/>
                </a:solidFill>
                <a:latin typeface="Calibri"/>
              </a:rPr>
              <a:t>Canonical truth beside the CRM reconstruction turns the walk-in gap into a number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4360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7737F"/>
                </a:solidFill>
                <a:latin typeface="Calibri"/>
              </a:rPr>
              <a:t>The Power BI reports answer questions about the portfolio. This answers questions about the platform that produces them.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737360"/>
            <a:ext cx="6309360" cy="6309360"/>
          </a:xfrm>
          <a:prstGeom prst="ellipse">
            <a:avLst/>
          </a:prstGeom>
          <a:solidFill>
            <a:srgbClr val="16202C"/>
          </a:solidFill>
          <a:ln>
            <a:solidFill>
              <a:srgbClr val="1620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49840" y="-365760"/>
            <a:ext cx="3383280" cy="3383280"/>
          </a:xfrm>
          <a:prstGeom prst="ellipse">
            <a:avLst/>
          </a:prstGeom>
          <a:solidFill>
            <a:srgbClr val="1D2B3A"/>
          </a:solidFill>
          <a:ln>
            <a:solidFill>
              <a:srgbClr val="1D2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0116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NORTHSTAR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14600"/>
            <a:ext cx="86868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E8EDF3"/>
                </a:solidFill>
                <a:latin typeface="Cambria"/>
              </a:rPr>
              <a:t>A report on stale data</a:t>
            </a:r>
          </a:p>
          <a:p>
            <a:pPr algn="l">
              <a:spcAft>
                <a:spcPts val="200"/>
              </a:spcAft>
            </a:pPr>
            <a:r>
              <a:rPr sz="4000" b="1">
                <a:solidFill>
                  <a:srgbClr val="E8EDF3"/>
                </a:solidFill>
                <a:latin typeface="Cambria"/>
              </a:rPr>
              <a:t>is worse than one that fails.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66344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67737F"/>
                </a:solidFill>
                <a:latin typeface="Calibri"/>
              </a:rPr>
              <a:t>ETL Operations Dashboard  ·  Visual logic &amp; calculations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