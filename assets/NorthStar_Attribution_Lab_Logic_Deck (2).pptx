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Oval 1"/>
          <p:cNvSpPr/>
          <p:nvPr/>
        </p:nvSpPr>
        <p:spPr>
          <a:xfrm>
            <a:off x="8686800" y="-1737360"/>
            <a:ext cx="6309360" cy="6309360"/>
          </a:xfrm>
          <a:prstGeom prst="ellipse">
            <a:avLst/>
          </a:prstGeom>
          <a:solidFill>
            <a:srgbClr val="16202C"/>
          </a:solidFill>
          <a:ln>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365760"/>
            <a:ext cx="3383280" cy="3383280"/>
          </a:xfrm>
          <a:prstGeom prst="ellipse">
            <a:avLst/>
          </a:prstGeom>
          <a:solidFill>
            <a:srgbClr val="1D2B3A"/>
          </a:solidFill>
          <a:ln>
            <a:solidFill>
              <a:srgbClr val="1D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783080"/>
            <a:ext cx="8229600" cy="274320"/>
          </a:xfrm>
          <a:prstGeom prst="rect">
            <a:avLst/>
          </a:prstGeom>
          <a:noFill/>
        </p:spPr>
        <p:txBody>
          <a:bodyPr wrap="square" lIns="0" rIns="0" tIns="0" bIns="0">
            <a:spAutoFit/>
          </a:bodyPr>
          <a:lstStyle/>
          <a:p>
            <a:pPr algn="l"/>
            <a:r>
              <a:rPr sz="1100" b="1">
                <a:solidFill>
                  <a:srgbClr val="D4AF37"/>
                </a:solidFill>
                <a:latin typeface="Calibri"/>
              </a:rPr>
              <a:t>NORTHSTAR INTELLIGENCE PLATFORM</a:t>
            </a:r>
          </a:p>
        </p:txBody>
      </p:sp>
      <p:sp>
        <p:nvSpPr>
          <p:cNvPr id="5" name="TextBox 4"/>
          <p:cNvSpPr txBox="1"/>
          <p:nvPr/>
        </p:nvSpPr>
        <p:spPr>
          <a:xfrm>
            <a:off x="777240" y="2176272"/>
            <a:ext cx="8686800" cy="914400"/>
          </a:xfrm>
          <a:prstGeom prst="rect">
            <a:avLst/>
          </a:prstGeom>
          <a:noFill/>
        </p:spPr>
        <p:txBody>
          <a:bodyPr wrap="square" lIns="0" rIns="0" tIns="0" bIns="0">
            <a:spAutoFit/>
          </a:bodyPr>
          <a:lstStyle/>
          <a:p>
            <a:pPr algn="l"/>
            <a:r>
              <a:rPr sz="4600" b="1">
                <a:solidFill>
                  <a:srgbClr val="E8EDF3"/>
                </a:solidFill>
                <a:latin typeface="Cambria"/>
              </a:rPr>
              <a:t>Attribution Lab</a:t>
            </a:r>
          </a:p>
        </p:txBody>
      </p:sp>
      <p:sp>
        <p:nvSpPr>
          <p:cNvPr id="6" name="TextBox 5"/>
          <p:cNvSpPr txBox="1"/>
          <p:nvPr/>
        </p:nvSpPr>
        <p:spPr>
          <a:xfrm>
            <a:off x="777240" y="3090672"/>
            <a:ext cx="8686800" cy="411480"/>
          </a:xfrm>
          <a:prstGeom prst="rect">
            <a:avLst/>
          </a:prstGeom>
          <a:noFill/>
        </p:spPr>
        <p:txBody>
          <a:bodyPr wrap="square" lIns="0" rIns="0" tIns="0" bIns="0">
            <a:spAutoFit/>
          </a:bodyPr>
          <a:lstStyle/>
          <a:p>
            <a:pPr algn="l"/>
            <a:r>
              <a:rPr sz="1900" b="0">
                <a:solidFill>
                  <a:srgbClr val="7FB2E5"/>
                </a:solidFill>
                <a:latin typeface="Calibri"/>
              </a:rPr>
              <a:t>Visual logic &amp; calculations</a:t>
            </a:r>
          </a:p>
        </p:txBody>
      </p:sp>
      <p:sp>
        <p:nvSpPr>
          <p:cNvPr id="7" name="TextBox 6"/>
          <p:cNvSpPr txBox="1"/>
          <p:nvPr/>
        </p:nvSpPr>
        <p:spPr>
          <a:xfrm>
            <a:off x="777240" y="3794760"/>
            <a:ext cx="7680960" cy="822960"/>
          </a:xfrm>
          <a:prstGeom prst="rect">
            <a:avLst/>
          </a:prstGeom>
          <a:noFill/>
        </p:spPr>
        <p:txBody>
          <a:bodyPr wrap="square" lIns="0" rIns="0" tIns="0" bIns="0">
            <a:spAutoFit/>
          </a:bodyPr>
          <a:lstStyle/>
          <a:p>
            <a:pPr algn="l">
              <a:spcAft>
                <a:spcPts val="400"/>
              </a:spcAft>
            </a:pPr>
            <a:r>
              <a:rPr sz="1400" b="0">
                <a:solidFill>
                  <a:srgbClr val="8A94A0"/>
                </a:solidFill>
                <a:latin typeface="Calibri"/>
              </a:rPr>
              <a:t>Six models, one set of journeys, six different answers about which vendors</a:t>
            </a:r>
          </a:p>
          <a:p>
            <a:pPr algn="l">
              <a:spcAft>
                <a:spcPts val="400"/>
              </a:spcAft>
            </a:pPr>
            <a:r>
              <a:rPr sz="1400" b="0">
                <a:solidFill>
                  <a:srgbClr val="8A94A0"/>
                </a:solidFill>
                <a:latin typeface="Calibri"/>
              </a:rPr>
              <a:t>earned the budget. This is how the page decides between them.</a:t>
            </a:r>
          </a:p>
        </p:txBody>
      </p:sp>
      <p:sp>
        <p:nvSpPr>
          <p:cNvPr id="8" name="TextBox 7"/>
          <p:cNvSpPr txBox="1"/>
          <p:nvPr/>
        </p:nvSpPr>
        <p:spPr>
          <a:xfrm>
            <a:off x="777240" y="5120640"/>
            <a:ext cx="8229600" cy="320040"/>
          </a:xfrm>
          <a:prstGeom prst="rect">
            <a:avLst/>
          </a:prstGeom>
          <a:noFill/>
        </p:spPr>
        <p:txBody>
          <a:bodyPr wrap="square" lIns="0" rIns="0" tIns="0" bIns="0">
            <a:spAutoFit/>
          </a:bodyPr>
          <a:lstStyle/>
          <a:p>
            <a:pPr algn="l"/>
            <a:r>
              <a:rPr sz="1150" b="0">
                <a:solidFill>
                  <a:srgbClr val="67737F"/>
                </a:solidFill>
                <a:latin typeface="Calibri"/>
              </a:rPr>
              <a:t>Selected: Last Touch  ·  recommended: First Touch  ·  captured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Model Discovery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Does the model you picked actually fit the journeys you have?</a:t>
            </a:r>
          </a:p>
        </p:txBody>
      </p:sp>
      <p:sp>
        <p:nvSpPr>
          <p:cNvPr id="4" name="Rounded Rectangle 3"/>
          <p:cNvSpPr/>
          <p:nvPr/>
        </p:nvSpPr>
        <p:spPr>
          <a:xfrm>
            <a:off x="4672406" y="1325880"/>
            <a:ext cx="2844139" cy="484632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full.png"/>
          <p:cNvPicPr>
            <a:picLocks noChangeAspect="1"/>
          </p:cNvPicPr>
          <p:nvPr/>
        </p:nvPicPr>
        <p:blipFill>
          <a:blip r:embed="rId2"/>
          <a:stretch>
            <a:fillRect/>
          </a:stretch>
        </p:blipFill>
        <p:spPr>
          <a:xfrm>
            <a:off x="4763846" y="1417320"/>
            <a:ext cx="2661259" cy="46634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1 · Selected Model</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A credit rule is a claim about how leasing works</a:t>
            </a:r>
          </a:p>
        </p:txBody>
      </p:sp>
      <p:sp>
        <p:nvSpPr>
          <p:cNvPr id="4" name="Rounded Rectangle 3"/>
          <p:cNvSpPr/>
          <p:nvPr/>
        </p:nvSpPr>
        <p:spPr>
          <a:xfrm>
            <a:off x="901849" y="1298448"/>
            <a:ext cx="3499821" cy="475488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selected_model.png"/>
          <p:cNvPicPr>
            <a:picLocks noChangeAspect="1"/>
          </p:cNvPicPr>
          <p:nvPr/>
        </p:nvPicPr>
        <p:blipFill>
          <a:blip r:embed="rId2"/>
          <a:stretch>
            <a:fillRect/>
          </a:stretch>
        </p:blipFill>
        <p:spPr>
          <a:xfrm>
            <a:off x="993289" y="1389888"/>
            <a:ext cx="3316941" cy="4572000"/>
          </a:xfrm>
          <a:prstGeom prst="rect">
            <a:avLst/>
          </a:prstGeom>
        </p:spPr>
      </p:pic>
      <p:sp>
        <p:nvSpPr>
          <p:cNvPr id="6" name="Rounded Rectangle 5"/>
          <p:cNvSpPr/>
          <p:nvPr/>
        </p:nvSpPr>
        <p:spPr>
          <a:xfrm>
            <a:off x="4983480" y="1298448"/>
            <a:ext cx="6656832" cy="1874519"/>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0" y="1426464"/>
            <a:ext cx="6199632" cy="256032"/>
          </a:xfrm>
          <a:prstGeom prst="rect">
            <a:avLst/>
          </a:prstGeom>
          <a:noFill/>
        </p:spPr>
        <p:txBody>
          <a:bodyPr wrap="square" lIns="0" rIns="0" tIns="0" bIns="0">
            <a:spAutoFit/>
          </a:bodyPr>
          <a:lstStyle/>
          <a:p>
            <a:pPr algn="l"/>
            <a:r>
              <a:rPr sz="1000" b="1">
                <a:solidFill>
                  <a:srgbClr val="D4AF37"/>
                </a:solidFill>
                <a:latin typeface="Calibri"/>
              </a:rPr>
              <a:t>LAST TOUCH — CREDIT DISTRIBUTION</a:t>
            </a:r>
          </a:p>
        </p:txBody>
      </p:sp>
      <p:sp>
        <p:nvSpPr>
          <p:cNvPr id="8" name="TextBox 7"/>
          <p:cNvSpPr txBox="1"/>
          <p:nvPr/>
        </p:nvSpPr>
        <p:spPr>
          <a:xfrm>
            <a:off x="5212080" y="1719072"/>
            <a:ext cx="6199632" cy="1051560"/>
          </a:xfrm>
          <a:prstGeom prst="rect">
            <a:avLst/>
          </a:prstGeom>
          <a:noFill/>
        </p:spPr>
        <p:txBody>
          <a:bodyPr wrap="square" lIns="0" rIns="0" tIns="0" bIns="0">
            <a:spAutoFit/>
          </a:bodyPr>
          <a:lstStyle/>
          <a:p>
            <a:pPr algn="l">
              <a:spcAft>
                <a:spcPts val="100"/>
              </a:spcAft>
            </a:pPr>
            <a:r>
              <a:rPr sz="1050" b="0">
                <a:solidFill>
                  <a:srgbClr val="BFD2E4"/>
                </a:solidFill>
                <a:latin typeface="Consolas"/>
              </a:rPr>
              <a:t>First Touch    0%</a:t>
            </a:r>
          </a:p>
          <a:p>
            <a:pPr algn="l">
              <a:spcAft>
                <a:spcPts val="100"/>
              </a:spcAft>
            </a:pPr>
            <a:r>
              <a:rPr sz="1050" b="0">
                <a:solidFill>
                  <a:srgbClr val="BFD2E4"/>
                </a:solidFill>
                <a:latin typeface="Consolas"/>
              </a:rPr>
              <a:t>Midpoint       0%</a:t>
            </a:r>
          </a:p>
          <a:p>
            <a:pPr algn="l">
              <a:spcAft>
                <a:spcPts val="100"/>
              </a:spcAft>
            </a:pPr>
            <a:r>
              <a:rPr sz="1050" b="0">
                <a:solidFill>
                  <a:srgbClr val="BFD2E4"/>
                </a:solidFill>
                <a:latin typeface="Consolas"/>
              </a:rPr>
              <a:t>Last Touch   100%</a:t>
            </a:r>
          </a:p>
        </p:txBody>
      </p:sp>
      <p:sp>
        <p:nvSpPr>
          <p:cNvPr id="9" name="TextBox 8"/>
          <p:cNvSpPr txBox="1"/>
          <p:nvPr/>
        </p:nvSpPr>
        <p:spPr>
          <a:xfrm>
            <a:off x="5212080" y="2843784"/>
            <a:ext cx="6199632" cy="256032"/>
          </a:xfrm>
          <a:prstGeom prst="rect">
            <a:avLst/>
          </a:prstGeom>
          <a:noFill/>
        </p:spPr>
        <p:txBody>
          <a:bodyPr wrap="square" lIns="0" rIns="0" tIns="0" bIns="0">
            <a:spAutoFit/>
          </a:bodyPr>
          <a:lstStyle/>
          <a:p>
            <a:pPr algn="l"/>
            <a:r>
              <a:rPr sz="950" b="0">
                <a:solidFill>
                  <a:srgbClr val="8A94A0"/>
                </a:solidFill>
                <a:latin typeface="Calibri"/>
              </a:rPr>
              <a:t>Six models, six rules. Same journeys, divided differently.</a:t>
            </a:r>
          </a:p>
        </p:txBody>
      </p:sp>
      <p:sp>
        <p:nvSpPr>
          <p:cNvPr id="10" name="Rounded Rectangle 9"/>
          <p:cNvSpPr/>
          <p:nvPr/>
        </p:nvSpPr>
        <p:spPr>
          <a:xfrm>
            <a:off x="4983480" y="3337560"/>
            <a:ext cx="6656832" cy="27157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3474720"/>
            <a:ext cx="6199632" cy="274320"/>
          </a:xfrm>
          <a:prstGeom prst="rect">
            <a:avLst/>
          </a:prstGeom>
          <a:noFill/>
        </p:spPr>
        <p:txBody>
          <a:bodyPr wrap="square" lIns="0" rIns="0" tIns="0" bIns="0">
            <a:spAutoFit/>
          </a:bodyPr>
          <a:lstStyle/>
          <a:p>
            <a:pPr algn="l"/>
            <a:r>
              <a:rPr sz="1400" b="1">
                <a:solidFill>
                  <a:srgbClr val="7FB2E5"/>
                </a:solidFill>
                <a:latin typeface="Cambria"/>
              </a:rPr>
              <a:t>The belief underneath</a:t>
            </a:r>
          </a:p>
        </p:txBody>
      </p:sp>
      <p:sp>
        <p:nvSpPr>
          <p:cNvPr id="12" name="TextBox 11"/>
          <p:cNvSpPr txBox="1"/>
          <p:nvPr/>
        </p:nvSpPr>
        <p:spPr>
          <a:xfrm>
            <a:off x="5212080" y="3794760"/>
            <a:ext cx="6199632" cy="2075688"/>
          </a:xfrm>
          <a:prstGeom prst="rect">
            <a:avLst/>
          </a:prstGeom>
          <a:noFill/>
        </p:spPr>
        <p:txBody>
          <a:bodyPr wrap="square" lIns="0" rIns="0" tIns="0" bIns="0">
            <a:spAutoFit/>
          </a:bodyPr>
          <a:lstStyle/>
          <a:p>
            <a:pPr algn="l">
              <a:spcAft>
                <a:spcPts val="500"/>
              </a:spcAft>
            </a:pPr>
            <a:r>
              <a:rPr sz="1150" b="0">
                <a:solidFill>
                  <a:srgbClr val="E8EDF3"/>
                </a:solidFill>
                <a:latin typeface="Calibri"/>
              </a:rPr>
              <a:t>Last Touch asserts that closing intent is everything — whoever is present at the decision earns all of it. That is a defensible position, and it is also a position, not a measurement.</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The 87 is Overall Fit against this portfolio, not a quality rating of the model. A model can be sound in general and still be the wrong lens for the journeys you actually have, which is the distinction the rest of the page exists to draw.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2 · Fit To Your Data</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Journey shape, measured against what the model assumes</a:t>
            </a:r>
          </a:p>
        </p:txBody>
      </p:sp>
      <p:sp>
        <p:nvSpPr>
          <p:cNvPr id="4" name="Rounded Rectangle 3"/>
          <p:cNvSpPr/>
          <p:nvPr/>
        </p:nvSpPr>
        <p:spPr>
          <a:xfrm>
            <a:off x="920306" y="1298448"/>
            <a:ext cx="3462907" cy="475488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fit_to_data.png"/>
          <p:cNvPicPr>
            <a:picLocks noChangeAspect="1"/>
          </p:cNvPicPr>
          <p:nvPr/>
        </p:nvPicPr>
        <p:blipFill>
          <a:blip r:embed="rId2"/>
          <a:stretch>
            <a:fillRect/>
          </a:stretch>
        </p:blipFill>
        <p:spPr>
          <a:xfrm>
            <a:off x="1011746" y="1389888"/>
            <a:ext cx="3280027" cy="4571999"/>
          </a:xfrm>
          <a:prstGeom prst="rect">
            <a:avLst/>
          </a:prstGeom>
        </p:spPr>
      </p:pic>
      <p:sp>
        <p:nvSpPr>
          <p:cNvPr id="6" name="Rounded Rectangle 5"/>
          <p:cNvSpPr/>
          <p:nvPr/>
        </p:nvSpPr>
        <p:spPr>
          <a:xfrm>
            <a:off x="4983480" y="1298448"/>
            <a:ext cx="6656832" cy="248716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80" y="1426464"/>
            <a:ext cx="6199632" cy="256032"/>
          </a:xfrm>
          <a:prstGeom prst="rect">
            <a:avLst/>
          </a:prstGeom>
          <a:noFill/>
        </p:spPr>
        <p:txBody>
          <a:bodyPr wrap="square" lIns="0" rIns="0" tIns="0" bIns="0">
            <a:spAutoFit/>
          </a:bodyPr>
          <a:lstStyle/>
          <a:p>
            <a:pPr algn="l"/>
            <a:r>
              <a:rPr sz="1000" b="1">
                <a:solidFill>
                  <a:srgbClr val="D4AF37"/>
                </a:solidFill>
                <a:latin typeface="Calibri"/>
              </a:rPr>
              <a:t>ASSUMPTION FIT — PENALTY LADDER</a:t>
            </a:r>
          </a:p>
        </p:txBody>
      </p:sp>
      <p:sp>
        <p:nvSpPr>
          <p:cNvPr id="8" name="TextBox 7"/>
          <p:cNvSpPr txBox="1"/>
          <p:nvPr/>
        </p:nvSpPr>
        <p:spPr>
          <a:xfrm>
            <a:off x="5212080" y="1719072"/>
            <a:ext cx="6199632" cy="1664208"/>
          </a:xfrm>
          <a:prstGeom prst="rect">
            <a:avLst/>
          </a:prstGeom>
          <a:noFill/>
        </p:spPr>
        <p:txBody>
          <a:bodyPr wrap="square" lIns="0" rIns="0" tIns="0" bIns="0">
            <a:spAutoFit/>
          </a:bodyPr>
          <a:lstStyle/>
          <a:p>
            <a:pPr algn="l">
              <a:spcAft>
                <a:spcPts val="100"/>
              </a:spcAft>
            </a:pPr>
            <a:r>
              <a:rPr sz="1050" b="0">
                <a:solidFill>
                  <a:srgbClr val="BFD2E4"/>
                </a:solidFill>
                <a:latin typeface="Consolas"/>
              </a:rPr>
              <a:t>avg touches ≤ 2     penalty  0</a:t>
            </a:r>
          </a:p>
          <a:p>
            <a:pPr algn="l">
              <a:spcAft>
                <a:spcPts val="100"/>
              </a:spcAft>
            </a:pPr>
            <a:r>
              <a:rPr sz="1050" b="0">
                <a:solidFill>
                  <a:srgbClr val="BFD2E4"/>
                </a:solidFill>
                <a:latin typeface="Consolas"/>
              </a:rPr>
              <a:t>            ≤ 4     penalty  5 + (t-2) × 7.5</a:t>
            </a:r>
          </a:p>
          <a:p>
            <a:pPr algn="l">
              <a:spcAft>
                <a:spcPts val="100"/>
              </a:spcAft>
            </a:pPr>
            <a:r>
              <a:rPr sz="1050" b="0">
                <a:solidFill>
                  <a:srgbClr val="BFD2E4"/>
                </a:solidFill>
                <a:latin typeface="Consolas"/>
              </a:rPr>
              <a:t>            ≤ 7     penalty 20 + (t-4) × 5</a:t>
            </a:r>
          </a:p>
          <a:p>
            <a:pPr algn="l">
              <a:spcAft>
                <a:spcPts val="100"/>
              </a:spcAft>
            </a:pPr>
            <a:r>
              <a:rPr sz="1050" b="0">
                <a:solidFill>
                  <a:srgbClr val="BFD2E4"/>
                </a:solidFill>
                <a:latin typeface="Consolas"/>
              </a:rPr>
              <a:t>            ≤ 12    penalty 35 + (t-7) × 5</a:t>
            </a:r>
          </a:p>
          <a:p>
            <a:pPr algn="l">
              <a:spcAft>
                <a:spcPts val="100"/>
              </a:spcAft>
            </a:pPr>
            <a:r>
              <a:rPr sz="1050" b="0">
                <a:solidFill>
                  <a:srgbClr val="BFD2E4"/>
                </a:solidFill>
                <a:latin typeface="Consolas"/>
              </a:rPr>
              <a:t>             &gt;12    penalty 60</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score = MAX(0, 100 - penalty)</a:t>
            </a:r>
          </a:p>
        </p:txBody>
      </p:sp>
      <p:sp>
        <p:nvSpPr>
          <p:cNvPr id="9" name="TextBox 8"/>
          <p:cNvSpPr txBox="1"/>
          <p:nvPr/>
        </p:nvSpPr>
        <p:spPr>
          <a:xfrm>
            <a:off x="5212080" y="3456432"/>
            <a:ext cx="6199632" cy="256032"/>
          </a:xfrm>
          <a:prstGeom prst="rect">
            <a:avLst/>
          </a:prstGeom>
          <a:noFill/>
        </p:spPr>
        <p:txBody>
          <a:bodyPr wrap="square" lIns="0" rIns="0" tIns="0" bIns="0">
            <a:spAutoFit/>
          </a:bodyPr>
          <a:lstStyle/>
          <a:p>
            <a:pPr algn="l"/>
            <a:r>
              <a:rPr sz="950" b="0">
                <a:solidFill>
                  <a:srgbClr val="8A94A0"/>
                </a:solidFill>
                <a:latin typeface="Calibri"/>
              </a:rPr>
              <a:t>At 1.8 average touches Last Touch draws no penalty. Assumption Fit 100.</a:t>
            </a:r>
          </a:p>
        </p:txBody>
      </p:sp>
      <p:sp>
        <p:nvSpPr>
          <p:cNvPr id="10" name="Rounded Rectangle 9"/>
          <p:cNvSpPr/>
          <p:nvPr/>
        </p:nvSpPr>
        <p:spPr>
          <a:xfrm>
            <a:off x="4983480" y="3950208"/>
            <a:ext cx="3218688" cy="210312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4087368"/>
            <a:ext cx="2761488" cy="274320"/>
          </a:xfrm>
          <a:prstGeom prst="rect">
            <a:avLst/>
          </a:prstGeom>
          <a:noFill/>
        </p:spPr>
        <p:txBody>
          <a:bodyPr wrap="square" lIns="0" rIns="0" tIns="0" bIns="0">
            <a:spAutoFit/>
          </a:bodyPr>
          <a:lstStyle/>
          <a:p>
            <a:pPr algn="l"/>
            <a:r>
              <a:rPr sz="1400" b="1">
                <a:solidFill>
                  <a:srgbClr val="7FB2E5"/>
                </a:solidFill>
                <a:latin typeface="Cambria"/>
              </a:rPr>
              <a:t>Every model has an enemy</a:t>
            </a:r>
          </a:p>
        </p:txBody>
      </p:sp>
      <p:sp>
        <p:nvSpPr>
          <p:cNvPr id="12" name="TextBox 11"/>
          <p:cNvSpPr txBox="1"/>
          <p:nvPr/>
        </p:nvSpPr>
        <p:spPr>
          <a:xfrm>
            <a:off x="5212080" y="4407408"/>
            <a:ext cx="2761488" cy="1463039"/>
          </a:xfrm>
          <a:prstGeom prst="rect">
            <a:avLst/>
          </a:prstGeom>
          <a:noFill/>
        </p:spPr>
        <p:txBody>
          <a:bodyPr wrap="square" lIns="0" rIns="0" tIns="0" bIns="0">
            <a:spAutoFit/>
          </a:bodyPr>
          <a:lstStyle/>
          <a:p>
            <a:pPr algn="l">
              <a:spcAft>
                <a:spcPts val="500"/>
              </a:spcAft>
            </a:pPr>
            <a:r>
              <a:rPr sz="1150" b="0">
                <a:solidFill>
                  <a:srgbClr val="E8EDF3"/>
                </a:solidFill>
                <a:latin typeface="Calibri"/>
              </a:rPr>
              <a:t>The ladder differs by model. Last Touch is punished by long journeys with real pre-close work; First Touch by long elapsed time, and again if journeys are so short that first and last are the same touch.</a:t>
            </a:r>
          </a:p>
        </p:txBody>
      </p:sp>
      <p:sp>
        <p:nvSpPr>
          <p:cNvPr id="13" name="Rounded Rectangle 12"/>
          <p:cNvSpPr/>
          <p:nvPr/>
        </p:nvSpPr>
        <p:spPr>
          <a:xfrm>
            <a:off x="8421624" y="3950208"/>
            <a:ext cx="3218688" cy="210312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50224" y="4087368"/>
            <a:ext cx="2761488" cy="274320"/>
          </a:xfrm>
          <a:prstGeom prst="rect">
            <a:avLst/>
          </a:prstGeom>
          <a:noFill/>
        </p:spPr>
        <p:txBody>
          <a:bodyPr wrap="square" lIns="0" rIns="0" tIns="0" bIns="0">
            <a:spAutoFit/>
          </a:bodyPr>
          <a:lstStyle/>
          <a:p>
            <a:pPr algn="l"/>
            <a:r>
              <a:rPr sz="1400" b="1">
                <a:solidFill>
                  <a:srgbClr val="7FB2E5"/>
                </a:solidFill>
                <a:latin typeface="Cambria"/>
              </a:rPr>
              <a:t>1.8 against an ideal of 1.0–1.5</a:t>
            </a:r>
          </a:p>
        </p:txBody>
      </p:sp>
      <p:sp>
        <p:nvSpPr>
          <p:cNvPr id="15" name="TextBox 14"/>
          <p:cNvSpPr txBox="1"/>
          <p:nvPr/>
        </p:nvSpPr>
        <p:spPr>
          <a:xfrm>
            <a:off x="8650224" y="4407408"/>
            <a:ext cx="2761488" cy="1463039"/>
          </a:xfrm>
          <a:prstGeom prst="rect">
            <a:avLst/>
          </a:prstGeom>
          <a:noFill/>
        </p:spPr>
        <p:txBody>
          <a:bodyPr wrap="square" lIns="0" rIns="0" tIns="0" bIns="0">
            <a:spAutoFit/>
          </a:bodyPr>
          <a:lstStyle/>
          <a:p>
            <a:pPr algn="l">
              <a:spcAft>
                <a:spcPts val="500"/>
              </a:spcAft>
            </a:pPr>
            <a:r>
              <a:rPr sz="1150" b="0">
                <a:solidFill>
                  <a:srgbClr val="E8EDF3"/>
                </a:solidFill>
                <a:latin typeface="Calibri"/>
              </a:rPr>
              <a:t>Short paths are why single-touch models score well here.</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On a portfolio with six-touch journeys the same models would collapse, and nothing about the models would have changed.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3 · Model Bias Profile</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Five fixed dimensions declaring what the rule over-weights</a:t>
            </a:r>
          </a:p>
        </p:txBody>
      </p:sp>
      <p:sp>
        <p:nvSpPr>
          <p:cNvPr id="4" name="Rounded Rectangle 3"/>
          <p:cNvSpPr/>
          <p:nvPr/>
        </p:nvSpPr>
        <p:spPr>
          <a:xfrm>
            <a:off x="2268855" y="1325880"/>
            <a:ext cx="7651242" cy="141732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bias_profile.png"/>
          <p:cNvPicPr>
            <a:picLocks noChangeAspect="1"/>
          </p:cNvPicPr>
          <p:nvPr/>
        </p:nvPicPr>
        <p:blipFill>
          <a:blip r:embed="rId2"/>
          <a:stretch>
            <a:fillRect/>
          </a:stretch>
        </p:blipFill>
        <p:spPr>
          <a:xfrm>
            <a:off x="2360295" y="1417320"/>
            <a:ext cx="7468362" cy="1234440"/>
          </a:xfrm>
          <a:prstGeom prst="rect">
            <a:avLst/>
          </a:prstGeom>
        </p:spPr>
      </p:pic>
      <p:sp>
        <p:nvSpPr>
          <p:cNvPr id="6" name="Rounded Rectangle 5"/>
          <p:cNvSpPr/>
          <p:nvPr/>
        </p:nvSpPr>
        <p:spPr>
          <a:xfrm>
            <a:off x="548640" y="3017520"/>
            <a:ext cx="5074920" cy="303580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145536"/>
            <a:ext cx="4617720" cy="256032"/>
          </a:xfrm>
          <a:prstGeom prst="rect">
            <a:avLst/>
          </a:prstGeom>
          <a:noFill/>
        </p:spPr>
        <p:txBody>
          <a:bodyPr wrap="square" lIns="0" rIns="0" tIns="0" bIns="0">
            <a:spAutoFit/>
          </a:bodyPr>
          <a:lstStyle/>
          <a:p>
            <a:pPr algn="l"/>
            <a:r>
              <a:rPr sz="1000" b="1">
                <a:solidFill>
                  <a:srgbClr val="D4AF37"/>
                </a:solidFill>
                <a:latin typeface="Calibri"/>
              </a:rPr>
              <a:t>BIAS — CLOSING, BY MODEL</a:t>
            </a:r>
          </a:p>
        </p:txBody>
      </p:sp>
      <p:sp>
        <p:nvSpPr>
          <p:cNvPr id="8" name="TextBox 7"/>
          <p:cNvSpPr txBox="1"/>
          <p:nvPr/>
        </p:nvSpPr>
        <p:spPr>
          <a:xfrm>
            <a:off x="777240" y="3438144"/>
            <a:ext cx="4617720" cy="2212848"/>
          </a:xfrm>
          <a:prstGeom prst="rect">
            <a:avLst/>
          </a:prstGeom>
          <a:noFill/>
        </p:spPr>
        <p:txBody>
          <a:bodyPr wrap="square" lIns="0" rIns="0" tIns="0" bIns="0">
            <a:spAutoFit/>
          </a:bodyPr>
          <a:lstStyle/>
          <a:p>
            <a:pPr algn="l">
              <a:spcAft>
                <a:spcPts val="100"/>
              </a:spcAft>
            </a:pPr>
            <a:r>
              <a:rPr sz="1050" b="0">
                <a:solidFill>
                  <a:srgbClr val="BFD2E4"/>
                </a:solidFill>
                <a:latin typeface="Consolas"/>
              </a:rPr>
              <a:t>First Touch      0</a:t>
            </a:r>
          </a:p>
          <a:p>
            <a:pPr algn="l">
              <a:spcAft>
                <a:spcPts val="100"/>
              </a:spcAft>
            </a:pPr>
            <a:r>
              <a:rPr sz="1050" b="0">
                <a:solidFill>
                  <a:srgbClr val="BFD2E4"/>
                </a:solidFill>
                <a:latin typeface="Consolas"/>
              </a:rPr>
              <a:t>W Shape         30</a:t>
            </a:r>
          </a:p>
          <a:p>
            <a:pPr algn="l">
              <a:spcAft>
                <a:spcPts val="100"/>
              </a:spcAft>
            </a:pPr>
            <a:r>
              <a:rPr sz="1050" b="0">
                <a:solidFill>
                  <a:srgbClr val="BFD2E4"/>
                </a:solidFill>
                <a:latin typeface="Consolas"/>
              </a:rPr>
              <a:t>Linear          33</a:t>
            </a:r>
          </a:p>
          <a:p>
            <a:pPr algn="l">
              <a:spcAft>
                <a:spcPts val="100"/>
              </a:spcAft>
            </a:pPr>
            <a:r>
              <a:rPr sz="1050" b="0">
                <a:solidFill>
                  <a:srgbClr val="BFD2E4"/>
                </a:solidFill>
                <a:latin typeface="Consolas"/>
              </a:rPr>
              <a:t>U Shape         40</a:t>
            </a:r>
          </a:p>
          <a:p>
            <a:pPr algn="l">
              <a:spcAft>
                <a:spcPts val="100"/>
              </a:spcAft>
            </a:pPr>
            <a:r>
              <a:rPr sz="1050" b="0">
                <a:solidFill>
                  <a:srgbClr val="BFD2E4"/>
                </a:solidFill>
                <a:latin typeface="Consolas"/>
              </a:rPr>
              <a:t>Time Decay      50</a:t>
            </a:r>
          </a:p>
          <a:p>
            <a:pPr algn="l">
              <a:spcAft>
                <a:spcPts val="100"/>
              </a:spcAft>
            </a:pPr>
            <a:r>
              <a:rPr sz="1050" b="0">
                <a:solidFill>
                  <a:srgbClr val="BFD2E4"/>
                </a:solidFill>
                <a:latin typeface="Consolas"/>
              </a:rPr>
              <a:t>Last Touch     100</a:t>
            </a:r>
          </a:p>
        </p:txBody>
      </p:sp>
      <p:sp>
        <p:nvSpPr>
          <p:cNvPr id="9" name="TextBox 8"/>
          <p:cNvSpPr txBox="1"/>
          <p:nvPr/>
        </p:nvSpPr>
        <p:spPr>
          <a:xfrm>
            <a:off x="777240" y="5724143"/>
            <a:ext cx="4617720" cy="256032"/>
          </a:xfrm>
          <a:prstGeom prst="rect">
            <a:avLst/>
          </a:prstGeom>
          <a:noFill/>
        </p:spPr>
        <p:txBody>
          <a:bodyPr wrap="square" lIns="0" rIns="0" tIns="0" bIns="0">
            <a:spAutoFit/>
          </a:bodyPr>
          <a:lstStyle/>
          <a:p>
            <a:pPr algn="l"/>
            <a:r>
              <a:rPr sz="950" b="0">
                <a:solidFill>
                  <a:srgbClr val="8A94A0"/>
                </a:solidFill>
                <a:latin typeface="Calibri"/>
              </a:rPr>
              <a:t>Constants. A property of the model, never of the data.</a:t>
            </a:r>
          </a:p>
        </p:txBody>
      </p:sp>
      <p:sp>
        <p:nvSpPr>
          <p:cNvPr id="10" name="Rounded Rectangle 9"/>
          <p:cNvSpPr/>
          <p:nvPr/>
        </p:nvSpPr>
        <p:spPr>
          <a:xfrm>
            <a:off x="5897880" y="3017520"/>
            <a:ext cx="5742432" cy="3035808"/>
          </a:xfrm>
          <a:prstGeom prst="roundRect">
            <a:avLst>
              <a:gd name="adj" fmla="val 3000"/>
            </a:avLst>
          </a:prstGeom>
          <a:solidFill>
            <a:srgbClr val="16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3218688"/>
            <a:ext cx="5102352" cy="292608"/>
          </a:xfrm>
          <a:prstGeom prst="rect">
            <a:avLst/>
          </a:prstGeom>
          <a:noFill/>
        </p:spPr>
        <p:txBody>
          <a:bodyPr wrap="square" lIns="0" rIns="0" tIns="0" bIns="0">
            <a:spAutoFit/>
          </a:bodyPr>
          <a:lstStyle/>
          <a:p>
            <a:pPr algn="l"/>
            <a:r>
              <a:rPr sz="1400" b="1">
                <a:solidFill>
                  <a:srgbClr val="7FB2E5"/>
                </a:solidFill>
                <a:latin typeface="Cambria"/>
              </a:rPr>
              <a:t>Declaring bias up front</a:t>
            </a:r>
          </a:p>
        </p:txBody>
      </p:sp>
      <p:sp>
        <p:nvSpPr>
          <p:cNvPr id="12" name="TextBox 11"/>
          <p:cNvSpPr txBox="1"/>
          <p:nvPr/>
        </p:nvSpPr>
        <p:spPr>
          <a:xfrm>
            <a:off x="6217920" y="3639312"/>
            <a:ext cx="5102352" cy="2286000"/>
          </a:xfrm>
          <a:prstGeom prst="rect">
            <a:avLst/>
          </a:prstGeom>
          <a:noFill/>
        </p:spPr>
        <p:txBody>
          <a:bodyPr wrap="square" lIns="0" rIns="0" tIns="0" bIns="0">
            <a:spAutoFit/>
          </a:bodyPr>
          <a:lstStyle/>
          <a:p>
            <a:pPr algn="l">
              <a:spcAft>
                <a:spcPts val="700"/>
              </a:spcAft>
            </a:pPr>
            <a:r>
              <a:rPr sz="1150" b="0">
                <a:solidFill>
                  <a:srgbClr val="E8EDF3"/>
                </a:solidFill>
                <a:latin typeface="Calibri"/>
              </a:rPr>
              <a:t>Every attribution model is biased. The dishonest ones just don't say so.</a:t>
            </a:r>
          </a:p>
          <a:p>
            <a:pPr algn="l">
              <a:spcAft>
                <a:spcPts val="700"/>
              </a:spcAft>
            </a:pPr>
            <a:r>
              <a:rPr sz="1150" b="0">
                <a:solidFill>
                  <a:srgbClr val="E8EDF3"/>
                </a:solidFill>
                <a:latin typeface="Calibri"/>
              </a:rPr>
              <a:t>Last Touch reads Closing 100, Recency 100, and zero on Awareness, Journey Depth and Multi-Touch. That profile isn't a defect to correct — it is the model doing precisely what it was chosen to do.</a:t>
            </a:r>
          </a:p>
          <a:p>
            <a:pPr algn="l">
              <a:spcAft>
                <a:spcPts val="700"/>
              </a:spcAft>
            </a:pPr>
            <a:r>
              <a:rPr sz="1150" b="0">
                <a:solidFill>
                  <a:srgbClr val="E8EDF3"/>
                </a:solidFill>
                <a:latin typeface="Calibri"/>
              </a:rPr>
              <a:t>Stating it here means a vendor ranking can be argued with on the rule rather than on the arithmetic. Which is the argument you want to be having.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4 · What Each Model Reports</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The same journeys under six lenses, every difference indexed to Linear</a:t>
            </a:r>
          </a:p>
        </p:txBody>
      </p:sp>
      <p:sp>
        <p:nvSpPr>
          <p:cNvPr id="4" name="Rounded Rectangle 3"/>
          <p:cNvSpPr/>
          <p:nvPr/>
        </p:nvSpPr>
        <p:spPr>
          <a:xfrm>
            <a:off x="548640" y="1562893"/>
            <a:ext cx="5760720" cy="4225988"/>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model_reports.png"/>
          <p:cNvPicPr>
            <a:picLocks noChangeAspect="1"/>
          </p:cNvPicPr>
          <p:nvPr/>
        </p:nvPicPr>
        <p:blipFill>
          <a:blip r:embed="rId2"/>
          <a:stretch>
            <a:fillRect/>
          </a:stretch>
        </p:blipFill>
        <p:spPr>
          <a:xfrm>
            <a:off x="640080" y="1654333"/>
            <a:ext cx="5577840" cy="4043109"/>
          </a:xfrm>
          <a:prstGeom prst="rect">
            <a:avLst/>
          </a:prstGeom>
        </p:spPr>
      </p:pic>
      <p:sp>
        <p:nvSpPr>
          <p:cNvPr id="6" name="TextBox 5"/>
          <p:cNvSpPr txBox="1"/>
          <p:nvPr/>
        </p:nvSpPr>
        <p:spPr>
          <a:xfrm>
            <a:off x="6812279" y="1417320"/>
            <a:ext cx="4828032" cy="310896"/>
          </a:xfrm>
          <a:prstGeom prst="rect">
            <a:avLst/>
          </a:prstGeom>
          <a:noFill/>
        </p:spPr>
        <p:txBody>
          <a:bodyPr wrap="square" lIns="0" rIns="0" tIns="0" bIns="0">
            <a:spAutoFit/>
          </a:bodyPr>
          <a:lstStyle/>
          <a:p>
            <a:pPr algn="l"/>
            <a:r>
              <a:rPr sz="1500" b="1">
                <a:solidFill>
                  <a:srgbClr val="7FB2E5"/>
                </a:solidFill>
                <a:latin typeface="Cambria"/>
              </a:rPr>
              <a:t>What the table is showing</a:t>
            </a:r>
          </a:p>
        </p:txBody>
      </p:sp>
      <p:sp>
        <p:nvSpPr>
          <p:cNvPr id="7" name="TextBox 6"/>
          <p:cNvSpPr txBox="1"/>
          <p:nvPr/>
        </p:nvSpPr>
        <p:spPr>
          <a:xfrm>
            <a:off x="6812279" y="1874519"/>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8" name="TextBox 7"/>
          <p:cNvSpPr txBox="1"/>
          <p:nvPr/>
        </p:nvSpPr>
        <p:spPr>
          <a:xfrm>
            <a:off x="7123175" y="1874519"/>
            <a:ext cx="4517136" cy="722376"/>
          </a:xfrm>
          <a:prstGeom prst="rect">
            <a:avLst/>
          </a:prstGeom>
          <a:noFill/>
        </p:spPr>
        <p:txBody>
          <a:bodyPr wrap="square" lIns="0" rIns="0" tIns="0" bIns="0">
            <a:spAutoFit/>
          </a:bodyPr>
          <a:lstStyle/>
          <a:p>
            <a:pPr algn="l"/>
            <a:r>
              <a:rPr sz="1200" b="0">
                <a:solidFill>
                  <a:srgbClr val="E8EDF3"/>
                </a:solidFill>
                <a:latin typeface="Calibri"/>
              </a:rPr>
              <a:t>Single-touch models credit one touch per journey — First Touch 9.8K, Last Touch 9.9K. The four multi-touch models credit every touch, at 18.1K each.</a:t>
            </a:r>
          </a:p>
        </p:txBody>
      </p:sp>
      <p:sp>
        <p:nvSpPr>
          <p:cNvPr id="9" name="TextBox 8"/>
          <p:cNvSpPr txBox="1"/>
          <p:nvPr/>
        </p:nvSpPr>
        <p:spPr>
          <a:xfrm>
            <a:off x="6812279" y="2692908"/>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0" name="TextBox 9"/>
          <p:cNvSpPr txBox="1"/>
          <p:nvPr/>
        </p:nvSpPr>
        <p:spPr>
          <a:xfrm>
            <a:off x="7123175" y="2692908"/>
            <a:ext cx="4517136" cy="512064"/>
          </a:xfrm>
          <a:prstGeom prst="rect">
            <a:avLst/>
          </a:prstGeom>
          <a:noFill/>
        </p:spPr>
        <p:txBody>
          <a:bodyPr wrap="square" lIns="0" rIns="0" tIns="0" bIns="0">
            <a:spAutoFit/>
          </a:bodyPr>
          <a:lstStyle/>
          <a:p>
            <a:pPr algn="l"/>
            <a:r>
              <a:rPr sz="1200" b="0">
                <a:solidFill>
                  <a:srgbClr val="E8EDF3"/>
                </a:solidFill>
                <a:latin typeface="Calibri"/>
              </a:rPr>
              <a:t>Lease value lands between $176.0M and $180.8M across all six. A spread under 3%.</a:t>
            </a:r>
          </a:p>
        </p:txBody>
      </p:sp>
      <p:sp>
        <p:nvSpPr>
          <p:cNvPr id="11" name="TextBox 10"/>
          <p:cNvSpPr txBox="1"/>
          <p:nvPr/>
        </p:nvSpPr>
        <p:spPr>
          <a:xfrm>
            <a:off x="6812279" y="3305556"/>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2" name="TextBox 11"/>
          <p:cNvSpPr txBox="1"/>
          <p:nvPr/>
        </p:nvSpPr>
        <p:spPr>
          <a:xfrm>
            <a:off x="7123175" y="3305556"/>
            <a:ext cx="4517136" cy="722376"/>
          </a:xfrm>
          <a:prstGeom prst="rect">
            <a:avLst/>
          </a:prstGeom>
          <a:noFill/>
        </p:spPr>
        <p:txBody>
          <a:bodyPr wrap="square" lIns="0" rIns="0" tIns="0" bIns="0">
            <a:spAutoFit/>
          </a:bodyPr>
          <a:lstStyle/>
          <a:p>
            <a:pPr algn="l"/>
            <a:r>
              <a:rPr sz="1200" b="0">
                <a:solidFill>
                  <a:srgbClr val="E8EDF3"/>
                </a:solidFill>
                <a:latin typeface="Calibri"/>
              </a:rPr>
              <a:t>That is the finding. Attribution does not change how many leases were signed or what they were worth; it changes only who gets credited for them.</a:t>
            </a:r>
          </a:p>
        </p:txBody>
      </p:sp>
      <p:sp>
        <p:nvSpPr>
          <p:cNvPr id="13" name="TextBox 12"/>
          <p:cNvSpPr txBox="1"/>
          <p:nvPr/>
        </p:nvSpPr>
        <p:spPr>
          <a:xfrm>
            <a:off x="6812279" y="4123944"/>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4" name="TextBox 13"/>
          <p:cNvSpPr txBox="1"/>
          <p:nvPr/>
        </p:nvSpPr>
        <p:spPr>
          <a:xfrm>
            <a:off x="7123175" y="4123944"/>
            <a:ext cx="4517136" cy="512064"/>
          </a:xfrm>
          <a:prstGeom prst="rect">
            <a:avLst/>
          </a:prstGeom>
          <a:noFill/>
        </p:spPr>
        <p:txBody>
          <a:bodyPr wrap="square" lIns="0" rIns="0" tIns="0" bIns="0">
            <a:spAutoFit/>
          </a:bodyPr>
          <a:lstStyle/>
          <a:p>
            <a:pPr algn="l"/>
            <a:r>
              <a:rPr sz="1200" b="0">
                <a:solidFill>
                  <a:srgbClr val="E8EDF3"/>
                </a:solidFill>
                <a:latin typeface="Calibri"/>
              </a:rPr>
              <a:t>Which makes the model choice a budget-allocation decision wearing the costume of a measurement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5 · How Each Model Scores Your Data</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Four sub-criteria, two lenses, one Overall Fit</a:t>
            </a:r>
          </a:p>
        </p:txBody>
      </p:sp>
      <p:sp>
        <p:nvSpPr>
          <p:cNvPr id="4" name="Rounded Rectangle 3"/>
          <p:cNvSpPr/>
          <p:nvPr/>
        </p:nvSpPr>
        <p:spPr>
          <a:xfrm>
            <a:off x="548640" y="1613148"/>
            <a:ext cx="5074920" cy="4125478"/>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model_scores.png"/>
          <p:cNvPicPr>
            <a:picLocks noChangeAspect="1"/>
          </p:cNvPicPr>
          <p:nvPr/>
        </p:nvPicPr>
        <p:blipFill>
          <a:blip r:embed="rId2"/>
          <a:stretch>
            <a:fillRect/>
          </a:stretch>
        </p:blipFill>
        <p:spPr>
          <a:xfrm>
            <a:off x="640080" y="1704588"/>
            <a:ext cx="4892040" cy="3942598"/>
          </a:xfrm>
          <a:prstGeom prst="rect">
            <a:avLst/>
          </a:prstGeom>
        </p:spPr>
      </p:pic>
      <p:sp>
        <p:nvSpPr>
          <p:cNvPr id="6" name="Rounded Rectangle 5"/>
          <p:cNvSpPr/>
          <p:nvPr/>
        </p:nvSpPr>
        <p:spPr>
          <a:xfrm>
            <a:off x="5852160" y="1298448"/>
            <a:ext cx="5788152" cy="248716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80760" y="1426464"/>
            <a:ext cx="5330952" cy="256032"/>
          </a:xfrm>
          <a:prstGeom prst="rect">
            <a:avLst/>
          </a:prstGeom>
          <a:noFill/>
        </p:spPr>
        <p:txBody>
          <a:bodyPr wrap="square" lIns="0" rIns="0" tIns="0" bIns="0">
            <a:spAutoFit/>
          </a:bodyPr>
          <a:lstStyle/>
          <a:p>
            <a:pPr algn="l"/>
            <a:r>
              <a:rPr sz="1000" b="1">
                <a:solidFill>
                  <a:srgbClr val="D4AF37"/>
                </a:solidFill>
                <a:latin typeface="Calibri"/>
              </a:rPr>
              <a:t>THE TWO LENSES</a:t>
            </a:r>
          </a:p>
        </p:txBody>
      </p:sp>
      <p:sp>
        <p:nvSpPr>
          <p:cNvPr id="8" name="TextBox 7"/>
          <p:cNvSpPr txBox="1"/>
          <p:nvPr/>
        </p:nvSpPr>
        <p:spPr>
          <a:xfrm>
            <a:off x="6080760" y="1719072"/>
            <a:ext cx="5330952" cy="1664208"/>
          </a:xfrm>
          <a:prstGeom prst="rect">
            <a:avLst/>
          </a:prstGeom>
          <a:noFill/>
        </p:spPr>
        <p:txBody>
          <a:bodyPr wrap="square" lIns="0" rIns="0" tIns="0" bIns="0">
            <a:spAutoFit/>
          </a:bodyPr>
          <a:lstStyle/>
          <a:p>
            <a:pPr algn="l">
              <a:spcAft>
                <a:spcPts val="100"/>
              </a:spcAft>
            </a:pPr>
            <a:r>
              <a:rPr sz="1050" b="0">
                <a:solidFill>
                  <a:srgbClr val="BFD2E4"/>
                </a:solidFill>
                <a:latin typeface="Consolas"/>
              </a:rPr>
              <a:t>Behavioral Fit    = 0.40 × Assumption Fit</a:t>
            </a:r>
          </a:p>
          <a:p>
            <a:pPr algn="l">
              <a:spcAft>
                <a:spcPts val="100"/>
              </a:spcAft>
            </a:pPr>
            <a:r>
              <a:rPr sz="1050" b="0">
                <a:solidFill>
                  <a:srgbClr val="BFD2E4"/>
                </a:solidFill>
                <a:latin typeface="Consolas"/>
              </a:rPr>
              <a:t>                  + 0.30 × Journey Coverage</a:t>
            </a:r>
          </a:p>
          <a:p>
            <a:pPr algn="l">
              <a:spcAft>
                <a:spcPts val="100"/>
              </a:spcAft>
            </a:pPr>
            <a:r>
              <a:rPr sz="1050" b="0">
                <a:solidFill>
                  <a:srgbClr val="BFD2E4"/>
                </a:solidFill>
                <a:latin typeface="Consolas"/>
              </a:rPr>
              <a:t>                  + 0.30 × Decision Clarity</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Operational Trust = 0.25 × Assumption Fit</a:t>
            </a:r>
          </a:p>
          <a:p>
            <a:pPr algn="l">
              <a:spcAft>
                <a:spcPts val="100"/>
              </a:spcAft>
            </a:pPr>
            <a:r>
              <a:rPr sz="1050" b="0">
                <a:solidFill>
                  <a:srgbClr val="BFD2E4"/>
                </a:solidFill>
                <a:latin typeface="Consolas"/>
              </a:rPr>
              <a:t>                  + 0.20 × Journey Coverage</a:t>
            </a:r>
          </a:p>
          <a:p>
            <a:pPr algn="l">
              <a:spcAft>
                <a:spcPts val="100"/>
              </a:spcAft>
            </a:pPr>
            <a:r>
              <a:rPr sz="1050" b="0">
                <a:solidFill>
                  <a:srgbClr val="BFD2E4"/>
                </a:solidFill>
                <a:latin typeface="Consolas"/>
              </a:rPr>
              <a:t>                  + 0.20 × Decision Clarity</a:t>
            </a:r>
          </a:p>
          <a:p>
            <a:pPr algn="l">
              <a:spcAft>
                <a:spcPts val="100"/>
              </a:spcAft>
            </a:pPr>
            <a:r>
              <a:rPr sz="1050" b="0">
                <a:solidFill>
                  <a:srgbClr val="BFD2E4"/>
                </a:solidFill>
                <a:latin typeface="Consolas"/>
              </a:rPr>
              <a:t>                  + 0.35 × Robustness</a:t>
            </a:r>
          </a:p>
        </p:txBody>
      </p:sp>
      <p:sp>
        <p:nvSpPr>
          <p:cNvPr id="9" name="TextBox 8"/>
          <p:cNvSpPr txBox="1"/>
          <p:nvPr/>
        </p:nvSpPr>
        <p:spPr>
          <a:xfrm>
            <a:off x="6080760" y="3456432"/>
            <a:ext cx="5330952" cy="256032"/>
          </a:xfrm>
          <a:prstGeom prst="rect">
            <a:avLst/>
          </a:prstGeom>
          <a:noFill/>
        </p:spPr>
        <p:txBody>
          <a:bodyPr wrap="square" lIns="0" rIns="0" tIns="0" bIns="0">
            <a:spAutoFit/>
          </a:bodyPr>
          <a:lstStyle/>
          <a:p>
            <a:pPr algn="l"/>
            <a:r>
              <a:rPr sz="950" b="0">
                <a:solidFill>
                  <a:srgbClr val="8A94A0"/>
                </a:solidFill>
                <a:latin typeface="Calibri"/>
              </a:rPr>
              <a:t>Robustness enters Trust only. Stability is an operational question, not a behavioural one.</a:t>
            </a:r>
          </a:p>
        </p:txBody>
      </p:sp>
      <p:sp>
        <p:nvSpPr>
          <p:cNvPr id="10" name="Rounded Rectangle 9"/>
          <p:cNvSpPr/>
          <p:nvPr/>
        </p:nvSpPr>
        <p:spPr>
          <a:xfrm>
            <a:off x="5852160" y="3950208"/>
            <a:ext cx="5788152" cy="210312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4078224"/>
            <a:ext cx="5330952" cy="256032"/>
          </a:xfrm>
          <a:prstGeom prst="rect">
            <a:avLst/>
          </a:prstGeom>
          <a:noFill/>
        </p:spPr>
        <p:txBody>
          <a:bodyPr wrap="square" lIns="0" rIns="0" tIns="0" bIns="0">
            <a:spAutoFit/>
          </a:bodyPr>
          <a:lstStyle/>
          <a:p>
            <a:pPr algn="l"/>
            <a:r>
              <a:rPr sz="1000" b="1">
                <a:solidFill>
                  <a:srgbClr val="D4AF37"/>
                </a:solidFill>
                <a:latin typeface="Calibri"/>
              </a:rPr>
              <a:t>WORKED ON FIRST TOUCH</a:t>
            </a:r>
          </a:p>
        </p:txBody>
      </p:sp>
      <p:sp>
        <p:nvSpPr>
          <p:cNvPr id="12" name="TextBox 11"/>
          <p:cNvSpPr txBox="1"/>
          <p:nvPr/>
        </p:nvSpPr>
        <p:spPr>
          <a:xfrm>
            <a:off x="6080760" y="4370832"/>
            <a:ext cx="5330952" cy="1280160"/>
          </a:xfrm>
          <a:prstGeom prst="rect">
            <a:avLst/>
          </a:prstGeom>
          <a:noFill/>
        </p:spPr>
        <p:txBody>
          <a:bodyPr wrap="square" lIns="0" rIns="0" tIns="0" bIns="0">
            <a:spAutoFit/>
          </a:bodyPr>
          <a:lstStyle/>
          <a:p>
            <a:pPr algn="l">
              <a:spcAft>
                <a:spcPts val="100"/>
              </a:spcAft>
            </a:pPr>
            <a:r>
              <a:rPr sz="1050" b="0">
                <a:solidFill>
                  <a:srgbClr val="BFD2E4"/>
                </a:solidFill>
                <a:latin typeface="Consolas"/>
              </a:rPr>
              <a:t>A 100   C 100   D 80   R 85</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BF = 0.40(100) + 0.30(100) + 0.30(80)  = 94.00</a:t>
            </a:r>
          </a:p>
          <a:p>
            <a:pPr algn="l">
              <a:spcAft>
                <a:spcPts val="100"/>
              </a:spcAft>
            </a:pPr>
            <a:r>
              <a:rPr sz="1050" b="0">
                <a:solidFill>
                  <a:srgbClr val="BFD2E4"/>
                </a:solidFill>
                <a:latin typeface="Consolas"/>
              </a:rPr>
              <a:t>OT = 0.25(100) + 0.20(100) + 0.20(80)</a:t>
            </a:r>
          </a:p>
          <a:p>
            <a:pPr algn="l">
              <a:spcAft>
                <a:spcPts val="100"/>
              </a:spcAft>
            </a:pPr>
            <a:r>
              <a:rPr sz="1050" b="0">
                <a:solidFill>
                  <a:srgbClr val="BFD2E4"/>
                </a:solidFill>
                <a:latin typeface="Consolas"/>
              </a:rPr>
              <a:t>                        + 0.35(85)     = 90.75</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Overall = 0.40(94.00) + 0.60(90.75)    = 92.05</a:t>
            </a:r>
          </a:p>
        </p:txBody>
      </p:sp>
      <p:sp>
        <p:nvSpPr>
          <p:cNvPr id="13" name="TextBox 12"/>
          <p:cNvSpPr txBox="1"/>
          <p:nvPr/>
        </p:nvSpPr>
        <p:spPr>
          <a:xfrm>
            <a:off x="6080760" y="5724144"/>
            <a:ext cx="5330952" cy="256032"/>
          </a:xfrm>
          <a:prstGeom prst="rect">
            <a:avLst/>
          </a:prstGeom>
          <a:noFill/>
        </p:spPr>
        <p:txBody>
          <a:bodyPr wrap="square" lIns="0" rIns="0" tIns="0" bIns="0">
            <a:spAutoFit/>
          </a:bodyPr>
          <a:lstStyle/>
          <a:p>
            <a:pPr algn="l"/>
            <a:r>
              <a:rPr sz="950" b="0">
                <a:solidFill>
                  <a:srgbClr val="8A94A0"/>
                </a:solidFill>
                <a:latin typeface="Calibri"/>
              </a:rPr>
              <a:t>Trust outweighs Fit 60/40 — a defensible answer beats a flattering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6 · Business Impact</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What staying on the selected model costs, in leases and dollars</a:t>
            </a:r>
          </a:p>
        </p:txBody>
      </p:sp>
      <p:sp>
        <p:nvSpPr>
          <p:cNvPr id="4" name="Rounded Rectangle 3"/>
          <p:cNvSpPr/>
          <p:nvPr/>
        </p:nvSpPr>
        <p:spPr>
          <a:xfrm>
            <a:off x="548640" y="1433467"/>
            <a:ext cx="6903720" cy="4484841"/>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business_impact.png"/>
          <p:cNvPicPr>
            <a:picLocks noChangeAspect="1"/>
          </p:cNvPicPr>
          <p:nvPr/>
        </p:nvPicPr>
        <p:blipFill>
          <a:blip r:embed="rId2"/>
          <a:stretch>
            <a:fillRect/>
          </a:stretch>
        </p:blipFill>
        <p:spPr>
          <a:xfrm>
            <a:off x="640080" y="1524907"/>
            <a:ext cx="6720840" cy="4301962"/>
          </a:xfrm>
          <a:prstGeom prst="rect">
            <a:avLst/>
          </a:prstGeom>
        </p:spPr>
      </p:pic>
      <p:sp>
        <p:nvSpPr>
          <p:cNvPr id="6" name="Rounded Rectangle 5"/>
          <p:cNvSpPr/>
          <p:nvPr/>
        </p:nvSpPr>
        <p:spPr>
          <a:xfrm>
            <a:off x="7635240" y="1298448"/>
            <a:ext cx="4005072" cy="210312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426464"/>
            <a:ext cx="3547872" cy="256032"/>
          </a:xfrm>
          <a:prstGeom prst="rect">
            <a:avLst/>
          </a:prstGeom>
          <a:noFill/>
        </p:spPr>
        <p:txBody>
          <a:bodyPr wrap="square" lIns="0" rIns="0" tIns="0" bIns="0">
            <a:spAutoFit/>
          </a:bodyPr>
          <a:lstStyle/>
          <a:p>
            <a:pPr algn="l"/>
            <a:r>
              <a:rPr sz="1000" b="1">
                <a:solidFill>
                  <a:srgbClr val="D4AF37"/>
                </a:solidFill>
                <a:latin typeface="Calibri"/>
              </a:rPr>
              <a:t>THE FOUR DELTAS</a:t>
            </a:r>
          </a:p>
        </p:txBody>
      </p:sp>
      <p:sp>
        <p:nvSpPr>
          <p:cNvPr id="8" name="TextBox 7"/>
          <p:cNvSpPr txBox="1"/>
          <p:nvPr/>
        </p:nvSpPr>
        <p:spPr>
          <a:xfrm>
            <a:off x="7863840" y="1719072"/>
            <a:ext cx="3547872" cy="1280160"/>
          </a:xfrm>
          <a:prstGeom prst="rect">
            <a:avLst/>
          </a:prstGeom>
          <a:noFill/>
        </p:spPr>
        <p:txBody>
          <a:bodyPr wrap="square" lIns="0" rIns="0" tIns="0" bIns="0">
            <a:spAutoFit/>
          </a:bodyPr>
          <a:lstStyle/>
          <a:p>
            <a:pPr algn="l">
              <a:spcAft>
                <a:spcPts val="100"/>
              </a:spcAft>
            </a:pPr>
            <a:r>
              <a:rPr sz="1050" b="0">
                <a:solidFill>
                  <a:srgbClr val="BFD2E4"/>
                </a:solidFill>
                <a:latin typeface="Consolas"/>
              </a:rPr>
              <a:t>Δ Converts        +50.6%</a:t>
            </a:r>
          </a:p>
          <a:p>
            <a:pPr algn="l">
              <a:spcAft>
                <a:spcPts val="100"/>
              </a:spcAft>
            </a:pPr>
            <a:r>
              <a:rPr sz="1050" b="0">
                <a:solidFill>
                  <a:srgbClr val="BFD2E4"/>
                </a:solidFill>
                <a:latin typeface="Consolas"/>
              </a:rPr>
              <a:t>Δ Lease Value      +$61M</a:t>
            </a:r>
          </a:p>
          <a:p>
            <a:pPr algn="l">
              <a:spcAft>
                <a:spcPts val="100"/>
              </a:spcAft>
            </a:pPr>
            <a:r>
              <a:rPr sz="1050" b="0">
                <a:solidFill>
                  <a:srgbClr val="BFD2E4"/>
                </a:solidFill>
                <a:latin typeface="Consolas"/>
              </a:rPr>
              <a:t>Δ Cost / Conv      -$183</a:t>
            </a:r>
          </a:p>
          <a:p>
            <a:pPr algn="l">
              <a:spcAft>
                <a:spcPts val="100"/>
              </a:spcAft>
            </a:pPr>
            <a:r>
              <a:rPr sz="1050" b="0">
                <a:solidFill>
                  <a:srgbClr val="BFD2E4"/>
                </a:solidFill>
                <a:latin typeface="Consolas"/>
              </a:rPr>
              <a:t>Δ Qualifying        100%</a:t>
            </a:r>
          </a:p>
        </p:txBody>
      </p:sp>
      <p:sp>
        <p:nvSpPr>
          <p:cNvPr id="9" name="TextBox 8"/>
          <p:cNvSpPr txBox="1"/>
          <p:nvPr/>
        </p:nvSpPr>
        <p:spPr>
          <a:xfrm>
            <a:off x="7863840" y="3072384"/>
            <a:ext cx="3547872" cy="256032"/>
          </a:xfrm>
          <a:prstGeom prst="rect">
            <a:avLst/>
          </a:prstGeom>
          <a:noFill/>
        </p:spPr>
        <p:txBody>
          <a:bodyPr wrap="square" lIns="0" rIns="0" tIns="0" bIns="0">
            <a:spAutoFit/>
          </a:bodyPr>
          <a:lstStyle/>
          <a:p>
            <a:pPr algn="l"/>
            <a:r>
              <a:rPr sz="950" b="0">
                <a:solidFill>
                  <a:srgbClr val="8A94A0"/>
                </a:solidFill>
                <a:latin typeface="Calibri"/>
              </a:rPr>
              <a:t>Selected model against the recommended one.</a:t>
            </a:r>
          </a:p>
        </p:txBody>
      </p:sp>
      <p:sp>
        <p:nvSpPr>
          <p:cNvPr id="10" name="Rounded Rectangle 9"/>
          <p:cNvSpPr/>
          <p:nvPr/>
        </p:nvSpPr>
        <p:spPr>
          <a:xfrm>
            <a:off x="7635240" y="3566160"/>
            <a:ext cx="4005072" cy="24871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3703320"/>
            <a:ext cx="3547872" cy="274320"/>
          </a:xfrm>
          <a:prstGeom prst="rect">
            <a:avLst/>
          </a:prstGeom>
          <a:noFill/>
        </p:spPr>
        <p:txBody>
          <a:bodyPr wrap="square" lIns="0" rIns="0" tIns="0" bIns="0">
            <a:spAutoFit/>
          </a:bodyPr>
          <a:lstStyle/>
          <a:p>
            <a:pPr algn="l"/>
            <a:r>
              <a:rPr sz="1400" b="1">
                <a:solidFill>
                  <a:srgbClr val="7FB2E5"/>
                </a:solidFill>
                <a:latin typeface="Cambria"/>
              </a:rPr>
              <a:t>Stated in money on purpose</a:t>
            </a:r>
          </a:p>
        </p:txBody>
      </p:sp>
      <p:sp>
        <p:nvSpPr>
          <p:cNvPr id="12" name="TextBox 11"/>
          <p:cNvSpPr txBox="1"/>
          <p:nvPr/>
        </p:nvSpPr>
        <p:spPr>
          <a:xfrm>
            <a:off x="7863840" y="4023360"/>
            <a:ext cx="3547872" cy="1847088"/>
          </a:xfrm>
          <a:prstGeom prst="rect">
            <a:avLst/>
          </a:prstGeom>
          <a:noFill/>
        </p:spPr>
        <p:txBody>
          <a:bodyPr wrap="square" lIns="0" rIns="0" tIns="0" bIns="0">
            <a:spAutoFit/>
          </a:bodyPr>
          <a:lstStyle/>
          <a:p>
            <a:pPr algn="l">
              <a:spcAft>
                <a:spcPts val="500"/>
              </a:spcAft>
            </a:pPr>
            <a:r>
              <a:rPr sz="1150" b="0">
                <a:solidFill>
                  <a:srgbClr val="E8EDF3"/>
                </a:solidFill>
                <a:latin typeface="Calibri"/>
              </a:rPr>
              <a:t>87 against 92 is an abstraction. $61M in attributed lease value is not.</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This section exists to turn a methodological preference into a number a budget owner can push back 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7 · Recommendation Summary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One model named, by the highest Overall Fit</a:t>
            </a:r>
          </a:p>
        </p:txBody>
      </p:sp>
      <p:sp>
        <p:nvSpPr>
          <p:cNvPr id="4" name="Rounded Rectangle 3"/>
          <p:cNvSpPr/>
          <p:nvPr/>
        </p:nvSpPr>
        <p:spPr>
          <a:xfrm>
            <a:off x="687237" y="1298448"/>
            <a:ext cx="3654725" cy="475488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1_recommendation.png"/>
          <p:cNvPicPr>
            <a:picLocks noChangeAspect="1"/>
          </p:cNvPicPr>
          <p:nvPr/>
        </p:nvPicPr>
        <p:blipFill>
          <a:blip r:embed="rId2"/>
          <a:stretch>
            <a:fillRect/>
          </a:stretch>
        </p:blipFill>
        <p:spPr>
          <a:xfrm>
            <a:off x="778677" y="1389888"/>
            <a:ext cx="3471845" cy="4572000"/>
          </a:xfrm>
          <a:prstGeom prst="rect">
            <a:avLst/>
          </a:prstGeom>
        </p:spPr>
      </p:pic>
      <p:sp>
        <p:nvSpPr>
          <p:cNvPr id="6" name="TextBox 5"/>
          <p:cNvSpPr txBox="1"/>
          <p:nvPr/>
        </p:nvSpPr>
        <p:spPr>
          <a:xfrm>
            <a:off x="4983479" y="1417320"/>
            <a:ext cx="6656832" cy="822960"/>
          </a:xfrm>
          <a:prstGeom prst="rect">
            <a:avLst/>
          </a:prstGeom>
          <a:noFill/>
        </p:spPr>
        <p:txBody>
          <a:bodyPr wrap="square" lIns="0" rIns="0" tIns="0" bIns="0">
            <a:spAutoFit/>
          </a:bodyPr>
          <a:lstStyle/>
          <a:p>
            <a:pPr algn="l">
              <a:spcAft>
                <a:spcPts val="600"/>
              </a:spcAft>
            </a:pPr>
            <a:r>
              <a:rPr sz="1700" b="0">
                <a:solidFill>
                  <a:srgbClr val="7FB2E5"/>
                </a:solidFill>
                <a:latin typeface="Cambria"/>
              </a:rPr>
              <a:t>Selection is mechanical. What happens next is not.</a:t>
            </a:r>
          </a:p>
        </p:txBody>
      </p:sp>
      <p:sp>
        <p:nvSpPr>
          <p:cNvPr id="7" name="TextBox 6"/>
          <p:cNvSpPr txBox="1"/>
          <p:nvPr/>
        </p:nvSpPr>
        <p:spPr>
          <a:xfrm>
            <a:off x="4983479" y="2377440"/>
            <a:ext cx="6656832" cy="530352"/>
          </a:xfrm>
          <a:prstGeom prst="rect">
            <a:avLst/>
          </a:prstGeom>
          <a:noFill/>
        </p:spPr>
        <p:txBody>
          <a:bodyPr wrap="square" lIns="0" rIns="0" tIns="0" bIns="0">
            <a:spAutoFit/>
          </a:bodyPr>
          <a:lstStyle/>
          <a:p>
            <a:pPr algn="l">
              <a:spcAft>
                <a:spcPts val="400"/>
              </a:spcAft>
            </a:pPr>
            <a:r>
              <a:rPr sz="1250" b="0">
                <a:solidFill>
                  <a:srgbClr val="E8EDF3"/>
                </a:solidFill>
                <a:latin typeface="Calibri"/>
              </a:rPr>
              <a:t>Linear 96, First Touch 92, Last Touch 87, U Shape 81, Time Decay 80, W Shape 60. The recommendation is TOPN over those six scores, descending. Highest wins outright.</a:t>
            </a:r>
          </a:p>
        </p:txBody>
      </p:sp>
      <p:sp>
        <p:nvSpPr>
          <p:cNvPr id="8" name="TextBox 7"/>
          <p:cNvSpPr txBox="1"/>
          <p:nvPr/>
        </p:nvSpPr>
        <p:spPr>
          <a:xfrm>
            <a:off x="4983479" y="3081528"/>
            <a:ext cx="6656832" cy="530352"/>
          </a:xfrm>
          <a:prstGeom prst="rect">
            <a:avLst/>
          </a:prstGeom>
          <a:noFill/>
        </p:spPr>
        <p:txBody>
          <a:bodyPr wrap="square" lIns="0" rIns="0" tIns="0" bIns="0">
            <a:spAutoFit/>
          </a:bodyPr>
          <a:lstStyle/>
          <a:p>
            <a:pPr algn="l">
              <a:spcAft>
                <a:spcPts val="400"/>
              </a:spcAft>
            </a:pPr>
            <a:r>
              <a:rPr sz="1250" b="0">
                <a:solidFill>
                  <a:srgbClr val="E8EDF3"/>
                </a:solidFill>
                <a:latin typeface="Calibri"/>
              </a:rPr>
              <a:t>No weighting by preference, no manual override, no tie-breaking rule that could be tuned after the fact to produce a preferred answer.</a:t>
            </a:r>
          </a:p>
        </p:txBody>
      </p:sp>
      <p:sp>
        <p:nvSpPr>
          <p:cNvPr id="9" name="TextBox 8"/>
          <p:cNvSpPr txBox="1"/>
          <p:nvPr/>
        </p:nvSpPr>
        <p:spPr>
          <a:xfrm>
            <a:off x="4983479" y="3785616"/>
            <a:ext cx="6656832" cy="530352"/>
          </a:xfrm>
          <a:prstGeom prst="rect">
            <a:avLst/>
          </a:prstGeom>
          <a:noFill/>
        </p:spPr>
        <p:txBody>
          <a:bodyPr wrap="square" lIns="0" rIns="0" tIns="0" bIns="0">
            <a:spAutoFit/>
          </a:bodyPr>
          <a:lstStyle/>
          <a:p>
            <a:pPr algn="l">
              <a:spcAft>
                <a:spcPts val="400"/>
              </a:spcAft>
            </a:pPr>
            <a:r>
              <a:rPr sz="1250" b="0">
                <a:solidFill>
                  <a:srgbClr val="E8EDF3"/>
                </a:solidFill>
                <a:latin typeface="Calibri"/>
              </a:rPr>
              <a:t>And then it stops. The page names a model, reports the gap, and prices the difference — but it does not switch anything.</a:t>
            </a:r>
          </a:p>
        </p:txBody>
      </p:sp>
      <p:sp>
        <p:nvSpPr>
          <p:cNvPr id="10" name="TextBox 9"/>
          <p:cNvSpPr txBox="1"/>
          <p:nvPr/>
        </p:nvSpPr>
        <p:spPr>
          <a:xfrm>
            <a:off x="4983479" y="4489704"/>
            <a:ext cx="6656832" cy="749808"/>
          </a:xfrm>
          <a:prstGeom prst="rect">
            <a:avLst/>
          </a:prstGeom>
          <a:noFill/>
        </p:spPr>
        <p:txBody>
          <a:bodyPr wrap="square" lIns="0" rIns="0" tIns="0" bIns="0">
            <a:spAutoFit/>
          </a:bodyPr>
          <a:lstStyle/>
          <a:p>
            <a:pPr algn="l">
              <a:spcAft>
                <a:spcPts val="400"/>
              </a:spcAft>
            </a:pPr>
            <a:r>
              <a:rPr sz="1250" b="0">
                <a:solidFill>
                  <a:srgbClr val="E8EDF3"/>
                </a:solidFill>
                <a:latin typeface="Calibri"/>
              </a:rPr>
              <a:t>Attribution is a commercial agreement about how vendors get paid at least as much as it is a measurement choice. So the page hands the operator a defensible position rather than a decision already taken on their behalf.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Model Impact</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If you commit to this model, what actually changes?</a:t>
            </a:r>
          </a:p>
        </p:txBody>
      </p:sp>
      <p:sp>
        <p:nvSpPr>
          <p:cNvPr id="4" name="Rounded Rectangle 3"/>
          <p:cNvSpPr/>
          <p:nvPr/>
        </p:nvSpPr>
        <p:spPr>
          <a:xfrm>
            <a:off x="5003383" y="1325880"/>
            <a:ext cx="2182185" cy="484632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2_full.png"/>
          <p:cNvPicPr>
            <a:picLocks noChangeAspect="1"/>
          </p:cNvPicPr>
          <p:nvPr/>
        </p:nvPicPr>
        <p:blipFill>
          <a:blip r:embed="rId2"/>
          <a:stretch>
            <a:fillRect/>
          </a:stretch>
        </p:blipFill>
        <p:spPr>
          <a:xfrm>
            <a:off x="5094823" y="1417320"/>
            <a:ext cx="1999305" cy="466343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8 · Model Impact Summary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One number is doing all the work</a:t>
            </a:r>
          </a:p>
        </p:txBody>
      </p:sp>
      <p:sp>
        <p:nvSpPr>
          <p:cNvPr id="4" name="Rounded Rectangle 3"/>
          <p:cNvSpPr/>
          <p:nvPr/>
        </p:nvSpPr>
        <p:spPr>
          <a:xfrm>
            <a:off x="3668050" y="1298448"/>
            <a:ext cx="4852851" cy="201168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2_impact_summary.png"/>
          <p:cNvPicPr>
            <a:picLocks noChangeAspect="1"/>
          </p:cNvPicPr>
          <p:nvPr/>
        </p:nvPicPr>
        <p:blipFill>
          <a:blip r:embed="rId2"/>
          <a:stretch>
            <a:fillRect/>
          </a:stretch>
        </p:blipFill>
        <p:spPr>
          <a:xfrm>
            <a:off x="3759490" y="1389888"/>
            <a:ext cx="4669971" cy="1828800"/>
          </a:xfrm>
          <a:prstGeom prst="rect">
            <a:avLst/>
          </a:prstGeom>
        </p:spPr>
      </p:pic>
      <p:sp>
        <p:nvSpPr>
          <p:cNvPr id="6" name="Rounded Rectangle 5"/>
          <p:cNvSpPr/>
          <p:nvPr/>
        </p:nvSpPr>
        <p:spPr>
          <a:xfrm>
            <a:off x="548640" y="3566160"/>
            <a:ext cx="5541264" cy="2487168"/>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694176"/>
            <a:ext cx="5084064" cy="256032"/>
          </a:xfrm>
          <a:prstGeom prst="rect">
            <a:avLst/>
          </a:prstGeom>
          <a:noFill/>
        </p:spPr>
        <p:txBody>
          <a:bodyPr wrap="square" lIns="0" rIns="0" tIns="0" bIns="0">
            <a:spAutoFit/>
          </a:bodyPr>
          <a:lstStyle/>
          <a:p>
            <a:pPr algn="l"/>
            <a:r>
              <a:rPr sz="1000" b="1">
                <a:solidFill>
                  <a:srgbClr val="D4AF37"/>
                </a:solidFill>
                <a:latin typeface="Calibri"/>
              </a:rPr>
              <a:t>ALL FIGURES VS LINEAR</a:t>
            </a:r>
          </a:p>
        </p:txBody>
      </p:sp>
      <p:sp>
        <p:nvSpPr>
          <p:cNvPr id="8" name="TextBox 7"/>
          <p:cNvSpPr txBox="1"/>
          <p:nvPr/>
        </p:nvSpPr>
        <p:spPr>
          <a:xfrm>
            <a:off x="777240" y="3986784"/>
            <a:ext cx="5084064" cy="1664208"/>
          </a:xfrm>
          <a:prstGeom prst="rect">
            <a:avLst/>
          </a:prstGeom>
          <a:noFill/>
        </p:spPr>
        <p:txBody>
          <a:bodyPr wrap="square" lIns="0" rIns="0" tIns="0" bIns="0">
            <a:spAutoFit/>
          </a:bodyPr>
          <a:lstStyle/>
          <a:p>
            <a:pPr algn="l">
              <a:spcAft>
                <a:spcPts val="100"/>
              </a:spcAft>
            </a:pPr>
            <a:r>
              <a:rPr sz="1050" b="0">
                <a:solidFill>
                  <a:srgbClr val="BFD2E4"/>
                </a:solidFill>
                <a:latin typeface="Consolas"/>
              </a:rPr>
              <a:t>Attributed Leases   14.8K    ▲  +0.1%</a:t>
            </a:r>
          </a:p>
          <a:p>
            <a:pPr algn="l">
              <a:spcAft>
                <a:spcPts val="100"/>
              </a:spcAft>
            </a:pPr>
            <a:r>
              <a:rPr sz="1050" b="0">
                <a:solidFill>
                  <a:srgbClr val="BFD2E4"/>
                </a:solidFill>
                <a:latin typeface="Consolas"/>
              </a:rPr>
              <a:t>Lease Value         $269M    ▲  +0.1%</a:t>
            </a:r>
          </a:p>
          <a:p>
            <a:pPr algn="l">
              <a:spcAft>
                <a:spcPts val="100"/>
              </a:spcAft>
            </a:pPr>
            <a:r>
              <a:rPr sz="1050" b="0">
                <a:solidFill>
                  <a:srgbClr val="BFD2E4"/>
                </a:solidFill>
                <a:latin typeface="Consolas"/>
              </a:rPr>
              <a:t>Cost per Conversion  $340    ▼  -0.1%</a:t>
            </a:r>
          </a:p>
          <a:p>
            <a:pPr algn="l">
              <a:spcAft>
                <a:spcPts val="100"/>
              </a:spcAft>
            </a:pPr>
            <a:r>
              <a:rPr sz="1050" b="0">
                <a:solidFill>
                  <a:srgbClr val="BFD2E4"/>
                </a:solidFill>
                <a:latin typeface="Consolas"/>
              </a:rPr>
              <a:t>Model Coverage         76%   ▼ -23.8%</a:t>
            </a:r>
          </a:p>
        </p:txBody>
      </p:sp>
      <p:sp>
        <p:nvSpPr>
          <p:cNvPr id="9" name="TextBox 8"/>
          <p:cNvSpPr txBox="1"/>
          <p:nvPr/>
        </p:nvSpPr>
        <p:spPr>
          <a:xfrm>
            <a:off x="777240" y="5724144"/>
            <a:ext cx="5084064" cy="256032"/>
          </a:xfrm>
          <a:prstGeom prst="rect">
            <a:avLst/>
          </a:prstGeom>
          <a:noFill/>
        </p:spPr>
        <p:txBody>
          <a:bodyPr wrap="square" lIns="0" rIns="0" tIns="0" bIns="0">
            <a:spAutoFit/>
          </a:bodyPr>
          <a:lstStyle/>
          <a:p>
            <a:pPr algn="l"/>
            <a:r>
              <a:rPr sz="950" b="0">
                <a:solidFill>
                  <a:srgbClr val="8A94A0"/>
                </a:solidFill>
                <a:latin typeface="Calibri"/>
              </a:rPr>
              <a:t>Coverage = share of converting journeys the model can credit at all.</a:t>
            </a:r>
          </a:p>
        </p:txBody>
      </p:sp>
      <p:sp>
        <p:nvSpPr>
          <p:cNvPr id="10" name="Rounded Rectangle 9"/>
          <p:cNvSpPr/>
          <p:nvPr/>
        </p:nvSpPr>
        <p:spPr>
          <a:xfrm>
            <a:off x="6309360" y="3566160"/>
            <a:ext cx="5330952" cy="248716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3703320"/>
            <a:ext cx="4873752" cy="274320"/>
          </a:xfrm>
          <a:prstGeom prst="rect">
            <a:avLst/>
          </a:prstGeom>
          <a:noFill/>
        </p:spPr>
        <p:txBody>
          <a:bodyPr wrap="square" lIns="0" rIns="0" tIns="0" bIns="0">
            <a:spAutoFit/>
          </a:bodyPr>
          <a:lstStyle/>
          <a:p>
            <a:pPr algn="l"/>
            <a:r>
              <a:rPr sz="1400" b="1">
                <a:solidFill>
                  <a:srgbClr val="7FB2E5"/>
                </a:solidFill>
                <a:latin typeface="Cambria"/>
              </a:rPr>
              <a:t>The asymmetry is the finding</a:t>
            </a:r>
          </a:p>
        </p:txBody>
      </p:sp>
      <p:sp>
        <p:nvSpPr>
          <p:cNvPr id="12" name="TextBox 11"/>
          <p:cNvSpPr txBox="1"/>
          <p:nvPr/>
        </p:nvSpPr>
        <p:spPr>
          <a:xfrm>
            <a:off x="6537960" y="4023360"/>
            <a:ext cx="4873752" cy="1847088"/>
          </a:xfrm>
          <a:prstGeom prst="rect">
            <a:avLst/>
          </a:prstGeom>
          <a:noFill/>
        </p:spPr>
        <p:txBody>
          <a:bodyPr wrap="square" lIns="0" rIns="0" tIns="0" bIns="0">
            <a:spAutoFit/>
          </a:bodyPr>
          <a:lstStyle/>
          <a:p>
            <a:pPr algn="l">
              <a:spcAft>
                <a:spcPts val="500"/>
              </a:spcAft>
            </a:pPr>
            <a:r>
              <a:rPr sz="1150" b="0">
                <a:solidFill>
                  <a:srgbClr val="E8EDF3"/>
                </a:solidFill>
                <a:latin typeface="Calibri"/>
              </a:rPr>
              <a:t>Three headline figures move by a tenth of a percent. Coverage falls 23.8%.</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Switching models barely alters the totals. What it changes is which journeys are eligible to be counted — and therefore which vendors can be paid.</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A health score averaging these four together would have buried exactly the thing worth knowing.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9 · Vendor Movement</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Two shares against a fair-share line, one posture per vendor</a:t>
            </a:r>
          </a:p>
        </p:txBody>
      </p:sp>
      <p:sp>
        <p:nvSpPr>
          <p:cNvPr id="4" name="Rounded Rectangle 3"/>
          <p:cNvSpPr/>
          <p:nvPr/>
        </p:nvSpPr>
        <p:spPr>
          <a:xfrm>
            <a:off x="642536" y="1298448"/>
            <a:ext cx="4887127" cy="4754880"/>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2_efficiency_map.png"/>
          <p:cNvPicPr>
            <a:picLocks noChangeAspect="1"/>
          </p:cNvPicPr>
          <p:nvPr/>
        </p:nvPicPr>
        <p:blipFill>
          <a:blip r:embed="rId2"/>
          <a:stretch>
            <a:fillRect/>
          </a:stretch>
        </p:blipFill>
        <p:spPr>
          <a:xfrm>
            <a:off x="733976" y="1389888"/>
            <a:ext cx="4704247" cy="4571999"/>
          </a:xfrm>
          <a:prstGeom prst="rect">
            <a:avLst/>
          </a:prstGeom>
        </p:spPr>
      </p:pic>
      <p:sp>
        <p:nvSpPr>
          <p:cNvPr id="6" name="Rounded Rectangle 5"/>
          <p:cNvSpPr/>
          <p:nvPr/>
        </p:nvSpPr>
        <p:spPr>
          <a:xfrm>
            <a:off x="5852160" y="1298448"/>
            <a:ext cx="5788152" cy="2606040"/>
          </a:xfrm>
          <a:prstGeom prst="roundRect">
            <a:avLst>
              <a:gd name="adj" fmla="val 3000"/>
            </a:avLst>
          </a:prstGeom>
          <a:solidFill>
            <a:srgbClr val="0C1219"/>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80760" y="1426464"/>
            <a:ext cx="5330952" cy="256032"/>
          </a:xfrm>
          <a:prstGeom prst="rect">
            <a:avLst/>
          </a:prstGeom>
          <a:noFill/>
        </p:spPr>
        <p:txBody>
          <a:bodyPr wrap="square" lIns="0" rIns="0" tIns="0" bIns="0">
            <a:spAutoFit/>
          </a:bodyPr>
          <a:lstStyle/>
          <a:p>
            <a:pPr algn="l"/>
            <a:r>
              <a:rPr sz="1000" b="1">
                <a:solidFill>
                  <a:srgbClr val="D4AF37"/>
                </a:solidFill>
                <a:latin typeface="Calibri"/>
              </a:rPr>
              <a:t>QUADRANT ASSIGNMENT</a:t>
            </a:r>
          </a:p>
        </p:txBody>
      </p:sp>
      <p:sp>
        <p:nvSpPr>
          <p:cNvPr id="8" name="TextBox 7"/>
          <p:cNvSpPr txBox="1"/>
          <p:nvPr/>
        </p:nvSpPr>
        <p:spPr>
          <a:xfrm>
            <a:off x="6080760" y="1719072"/>
            <a:ext cx="5330952" cy="1783080"/>
          </a:xfrm>
          <a:prstGeom prst="rect">
            <a:avLst/>
          </a:prstGeom>
          <a:noFill/>
        </p:spPr>
        <p:txBody>
          <a:bodyPr wrap="square" lIns="0" rIns="0" tIns="0" bIns="0">
            <a:spAutoFit/>
          </a:bodyPr>
          <a:lstStyle/>
          <a:p>
            <a:pPr algn="l">
              <a:spcAft>
                <a:spcPts val="100"/>
              </a:spcAft>
            </a:pPr>
            <a:r>
              <a:rPr sz="1050" b="0">
                <a:solidFill>
                  <a:srgbClr val="BFD2E4"/>
                </a:solidFill>
                <a:latin typeface="Consolas"/>
              </a:rPr>
              <a:t>conv &gt; fair  and  touch &gt; fair  →  INVEST</a:t>
            </a:r>
          </a:p>
          <a:p>
            <a:pPr algn="l">
              <a:spcAft>
                <a:spcPts val="100"/>
              </a:spcAft>
            </a:pPr>
            <a:r>
              <a:rPr sz="1050" b="0">
                <a:solidFill>
                  <a:srgbClr val="BFD2E4"/>
                </a:solidFill>
                <a:latin typeface="Consolas"/>
              </a:rPr>
              <a:t>conv ≤ fair  and  touch &gt; fair  →  OPTIMIZE</a:t>
            </a:r>
          </a:p>
          <a:p>
            <a:pPr algn="l">
              <a:spcAft>
                <a:spcPts val="100"/>
              </a:spcAft>
            </a:pPr>
            <a:r>
              <a:rPr sz="1050" b="0">
                <a:solidFill>
                  <a:srgbClr val="BFD2E4"/>
                </a:solidFill>
                <a:latin typeface="Consolas"/>
              </a:rPr>
              <a:t>conv ≤ fair  and  touch ≤ fair  →  CUT</a:t>
            </a:r>
          </a:p>
          <a:p>
            <a:pPr algn="l">
              <a:spcAft>
                <a:spcPts val="100"/>
              </a:spcAft>
            </a:pPr>
            <a:r>
              <a:rPr sz="1050" b="0">
                <a:solidFill>
                  <a:srgbClr val="BFD2E4"/>
                </a:solidFill>
                <a:latin typeface="Consolas"/>
              </a:rPr>
              <a:t>conv &gt; fair  and  touch ≤ fair  →  SCALE &amp; TEST</a:t>
            </a:r>
          </a:p>
          <a:p>
            <a:pPr algn="l">
              <a:spcAft>
                <a:spcPts val="100"/>
              </a:spcAft>
            </a:pPr>
            <a:r>
              <a:rPr sz="1050" b="0">
                <a:solidFill>
                  <a:srgbClr val="BFD2E4"/>
                </a:solidFill>
                <a:latin typeface="Consolas"/>
              </a:rPr>
              <a:t/>
            </a:r>
          </a:p>
          <a:p>
            <a:pPr algn="l">
              <a:spcAft>
                <a:spcPts val="100"/>
              </a:spcAft>
            </a:pPr>
            <a:r>
              <a:rPr sz="1050" b="0">
                <a:solidFill>
                  <a:srgbClr val="BFD2E4"/>
                </a:solidFill>
                <a:latin typeface="Consolas"/>
              </a:rPr>
              <a:t>conv  = share of attributed conversions</a:t>
            </a:r>
          </a:p>
          <a:p>
            <a:pPr algn="l">
              <a:spcAft>
                <a:spcPts val="100"/>
              </a:spcAft>
            </a:pPr>
            <a:r>
              <a:rPr sz="1050" b="0">
                <a:solidFill>
                  <a:srgbClr val="BFD2E4"/>
                </a:solidFill>
                <a:latin typeface="Consolas"/>
              </a:rPr>
              <a:t>touch = share of contributed touchpoints</a:t>
            </a:r>
          </a:p>
        </p:txBody>
      </p:sp>
      <p:sp>
        <p:nvSpPr>
          <p:cNvPr id="9" name="TextBox 8"/>
          <p:cNvSpPr txBox="1"/>
          <p:nvPr/>
        </p:nvSpPr>
        <p:spPr>
          <a:xfrm>
            <a:off x="6080760" y="3575303"/>
            <a:ext cx="5330952" cy="256032"/>
          </a:xfrm>
          <a:prstGeom prst="rect">
            <a:avLst/>
          </a:prstGeom>
          <a:noFill/>
        </p:spPr>
        <p:txBody>
          <a:bodyPr wrap="square" lIns="0" rIns="0" tIns="0" bIns="0">
            <a:spAutoFit/>
          </a:bodyPr>
          <a:lstStyle/>
          <a:p>
            <a:pPr algn="l"/>
            <a:r>
              <a:rPr sz="950" b="0">
                <a:solidFill>
                  <a:srgbClr val="8A94A0"/>
                </a:solidFill>
                <a:latin typeface="Calibri"/>
              </a:rPr>
              <a:t>Two comparisons, one line. No thresholds to tune.</a:t>
            </a:r>
          </a:p>
        </p:txBody>
      </p:sp>
      <p:sp>
        <p:nvSpPr>
          <p:cNvPr id="10" name="Rounded Rectangle 9"/>
          <p:cNvSpPr/>
          <p:nvPr/>
        </p:nvSpPr>
        <p:spPr>
          <a:xfrm>
            <a:off x="5852160" y="4069080"/>
            <a:ext cx="5788152" cy="1984248"/>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4206240"/>
            <a:ext cx="5330952" cy="274320"/>
          </a:xfrm>
          <a:prstGeom prst="rect">
            <a:avLst/>
          </a:prstGeom>
          <a:noFill/>
        </p:spPr>
        <p:txBody>
          <a:bodyPr wrap="square" lIns="0" rIns="0" tIns="0" bIns="0">
            <a:spAutoFit/>
          </a:bodyPr>
          <a:lstStyle/>
          <a:p>
            <a:pPr algn="l"/>
            <a:r>
              <a:rPr sz="1400" b="1">
                <a:solidFill>
                  <a:srgbClr val="7FB2E5"/>
                </a:solidFill>
                <a:latin typeface="Cambria"/>
              </a:rPr>
              <a:t>Share, not volume</a:t>
            </a:r>
          </a:p>
        </p:txBody>
      </p:sp>
      <p:sp>
        <p:nvSpPr>
          <p:cNvPr id="12" name="TextBox 11"/>
          <p:cNvSpPr txBox="1"/>
          <p:nvPr/>
        </p:nvSpPr>
        <p:spPr>
          <a:xfrm>
            <a:off x="6080760" y="4526280"/>
            <a:ext cx="5330952" cy="1344168"/>
          </a:xfrm>
          <a:prstGeom prst="rect">
            <a:avLst/>
          </a:prstGeom>
          <a:noFill/>
        </p:spPr>
        <p:txBody>
          <a:bodyPr wrap="square" lIns="0" rIns="0" tIns="0" bIns="0">
            <a:spAutoFit/>
          </a:bodyPr>
          <a:lstStyle/>
          <a:p>
            <a:pPr algn="l">
              <a:spcAft>
                <a:spcPts val="500"/>
              </a:spcAft>
            </a:pPr>
            <a:r>
              <a:rPr sz="1150" b="0">
                <a:solidFill>
                  <a:srgbClr val="E8EDF3"/>
                </a:solidFill>
                <a:latin typeface="Calibri"/>
              </a:rPr>
              <a:t>A vendor is judged on whether it converts more than its share of the touches it consumes. So a large vendor cannot spend its way into a good quadrant.</a:t>
            </a:r>
          </a:p>
          <a:p>
            <a:pPr algn="l">
              <a:spcAft>
                <a:spcPts val="500"/>
              </a:spcAft>
            </a:pPr>
            <a:r>
              <a:rPr sz="1150" b="0">
                <a:solidFill>
                  <a:srgbClr val="E8EDF3"/>
                </a:solidFill>
                <a:latin typeface="Calibri"/>
              </a:rPr>
              <a:t/>
            </a:r>
          </a:p>
          <a:p>
            <a:pPr algn="l">
              <a:spcAft>
                <a:spcPts val="500"/>
              </a:spcAft>
            </a:pPr>
            <a:r>
              <a:rPr sz="1150" b="0">
                <a:solidFill>
                  <a:srgbClr val="E8EDF3"/>
                </a:solidFill>
                <a:latin typeface="Calibri"/>
              </a:rPr>
              <a:t>Zillow and Apartments.com clear the line on both axes. Nine vendors clear neither.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10 · Trust &amp; Stability</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Would the recommendation survive changing the model?</a:t>
            </a:r>
          </a:p>
        </p:txBody>
      </p:sp>
      <p:sp>
        <p:nvSpPr>
          <p:cNvPr id="4" name="Rounded Rectangle 3"/>
          <p:cNvSpPr/>
          <p:nvPr/>
        </p:nvSpPr>
        <p:spPr>
          <a:xfrm>
            <a:off x="548640" y="2765667"/>
            <a:ext cx="5394960" cy="1820441"/>
          </a:xfrm>
          <a:prstGeom prst="roundRect">
            <a:avLst>
              <a:gd name="adj" fmla="val 2000"/>
            </a:avLst>
          </a:prstGeom>
          <a:solidFill>
            <a:srgbClr val="F7F8FA"/>
          </a:solidFill>
          <a:ln w="9525">
            <a:solidFill>
              <a:srgbClr val="2B36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2_trust_stability.png"/>
          <p:cNvPicPr>
            <a:picLocks noChangeAspect="1"/>
          </p:cNvPicPr>
          <p:nvPr/>
        </p:nvPicPr>
        <p:blipFill>
          <a:blip r:embed="rId2"/>
          <a:stretch>
            <a:fillRect/>
          </a:stretch>
        </p:blipFill>
        <p:spPr>
          <a:xfrm>
            <a:off x="640080" y="2857107"/>
            <a:ext cx="5212080" cy="1637562"/>
          </a:xfrm>
          <a:prstGeom prst="rect">
            <a:avLst/>
          </a:prstGeom>
        </p:spPr>
      </p:pic>
      <p:sp>
        <p:nvSpPr>
          <p:cNvPr id="6" name="TextBox 5"/>
          <p:cNvSpPr txBox="1"/>
          <p:nvPr/>
        </p:nvSpPr>
        <p:spPr>
          <a:xfrm>
            <a:off x="6446520" y="1417320"/>
            <a:ext cx="5193792" cy="310896"/>
          </a:xfrm>
          <a:prstGeom prst="rect">
            <a:avLst/>
          </a:prstGeom>
          <a:noFill/>
        </p:spPr>
        <p:txBody>
          <a:bodyPr wrap="square" lIns="0" rIns="0" tIns="0" bIns="0">
            <a:spAutoFit/>
          </a:bodyPr>
          <a:lstStyle/>
          <a:p>
            <a:pPr algn="l"/>
            <a:r>
              <a:rPr sz="1500" b="1">
                <a:solidFill>
                  <a:srgbClr val="7FB2E5"/>
                </a:solidFill>
                <a:latin typeface="Cambria"/>
              </a:rPr>
              <a:t>Five tests, run across all six models</a:t>
            </a:r>
          </a:p>
        </p:txBody>
      </p:sp>
      <p:sp>
        <p:nvSpPr>
          <p:cNvPr id="7" name="TextBox 6"/>
          <p:cNvSpPr txBox="1"/>
          <p:nvPr/>
        </p:nvSpPr>
        <p:spPr>
          <a:xfrm>
            <a:off x="6446520" y="1874519"/>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8" name="TextBox 7"/>
          <p:cNvSpPr txBox="1"/>
          <p:nvPr/>
        </p:nvSpPr>
        <p:spPr>
          <a:xfrm>
            <a:off x="6757416" y="1874519"/>
            <a:ext cx="4882896" cy="301752"/>
          </a:xfrm>
          <a:prstGeom prst="rect">
            <a:avLst/>
          </a:prstGeom>
          <a:noFill/>
        </p:spPr>
        <p:txBody>
          <a:bodyPr wrap="square" lIns="0" rIns="0" tIns="0" bIns="0">
            <a:spAutoFit/>
          </a:bodyPr>
          <a:lstStyle/>
          <a:p>
            <a:pPr algn="l"/>
            <a:r>
              <a:rPr sz="1200" b="0">
                <a:solidFill>
                  <a:srgbClr val="E8EDF3"/>
                </a:solidFill>
                <a:latin typeface="Calibri"/>
              </a:rPr>
              <a:t>Consensus — wins divided by six, times 100. Scores 100.</a:t>
            </a:r>
          </a:p>
        </p:txBody>
      </p:sp>
      <p:sp>
        <p:nvSpPr>
          <p:cNvPr id="9" name="TextBox 8"/>
          <p:cNvSpPr txBox="1"/>
          <p:nvPr/>
        </p:nvSpPr>
        <p:spPr>
          <a:xfrm>
            <a:off x="6446520" y="2281427"/>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0" name="TextBox 9"/>
          <p:cNvSpPr txBox="1"/>
          <p:nvPr/>
        </p:nvSpPr>
        <p:spPr>
          <a:xfrm>
            <a:off x="6757416" y="2281427"/>
            <a:ext cx="4882896" cy="301752"/>
          </a:xfrm>
          <a:prstGeom prst="rect">
            <a:avLst/>
          </a:prstGeom>
          <a:noFill/>
        </p:spPr>
        <p:txBody>
          <a:bodyPr wrap="square" lIns="0" rIns="0" tIns="0" bIns="0">
            <a:spAutoFit/>
          </a:bodyPr>
          <a:lstStyle/>
          <a:p>
            <a:pPr algn="l"/>
            <a:r>
              <a:rPr sz="1200" b="0">
                <a:solidFill>
                  <a:srgbClr val="E8EDF3"/>
                </a:solidFill>
                <a:latin typeface="Calibri"/>
              </a:rPr>
              <a:t>Robustness — vendors holding their action tier. 9 of 11.</a:t>
            </a:r>
          </a:p>
        </p:txBody>
      </p:sp>
      <p:sp>
        <p:nvSpPr>
          <p:cNvPr id="11" name="TextBox 10"/>
          <p:cNvSpPr txBox="1"/>
          <p:nvPr/>
        </p:nvSpPr>
        <p:spPr>
          <a:xfrm>
            <a:off x="6446520" y="2688335"/>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2" name="TextBox 11"/>
          <p:cNvSpPr txBox="1"/>
          <p:nvPr/>
        </p:nvSpPr>
        <p:spPr>
          <a:xfrm>
            <a:off x="6757416" y="2688335"/>
            <a:ext cx="4882896" cy="301752"/>
          </a:xfrm>
          <a:prstGeom prst="rect">
            <a:avLst/>
          </a:prstGeom>
          <a:noFill/>
        </p:spPr>
        <p:txBody>
          <a:bodyPr wrap="square" lIns="0" rIns="0" tIns="0" bIns="0">
            <a:spAutoFit/>
          </a:bodyPr>
          <a:lstStyle/>
          <a:p>
            <a:pPr algn="l"/>
            <a:r>
              <a:rPr sz="1200" b="0">
                <a:solidFill>
                  <a:srgbClr val="E8EDF3"/>
                </a:solidFill>
                <a:latin typeface="Calibri"/>
              </a:rPr>
              <a:t>Max swing — widest credit shift across models. 28.0%.</a:t>
            </a:r>
          </a:p>
        </p:txBody>
      </p:sp>
      <p:sp>
        <p:nvSpPr>
          <p:cNvPr id="13" name="TextBox 12"/>
          <p:cNvSpPr txBox="1"/>
          <p:nvPr/>
        </p:nvSpPr>
        <p:spPr>
          <a:xfrm>
            <a:off x="6446520" y="3095243"/>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4" name="TextBox 13"/>
          <p:cNvSpPr txBox="1"/>
          <p:nvPr/>
        </p:nvSpPr>
        <p:spPr>
          <a:xfrm>
            <a:off x="6757416" y="3095243"/>
            <a:ext cx="4882896" cy="301752"/>
          </a:xfrm>
          <a:prstGeom prst="rect">
            <a:avLst/>
          </a:prstGeom>
          <a:noFill/>
        </p:spPr>
        <p:txBody>
          <a:bodyPr wrap="square" lIns="0" rIns="0" tIns="0" bIns="0">
            <a:spAutoFit/>
          </a:bodyPr>
          <a:lstStyle/>
          <a:p>
            <a:pPr algn="l"/>
            <a:r>
              <a:rPr sz="1200" b="0">
                <a:solidFill>
                  <a:srgbClr val="E8EDF3"/>
                </a:solidFill>
                <a:latin typeface="Calibri"/>
              </a:rPr>
              <a:t>Migration — vendors changing tier against Linear. 0 of 11.</a:t>
            </a:r>
          </a:p>
        </p:txBody>
      </p:sp>
      <p:sp>
        <p:nvSpPr>
          <p:cNvPr id="15" name="TextBox 14"/>
          <p:cNvSpPr txBox="1"/>
          <p:nvPr/>
        </p:nvSpPr>
        <p:spPr>
          <a:xfrm>
            <a:off x="6446520" y="3502151"/>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6" name="TextBox 15"/>
          <p:cNvSpPr txBox="1"/>
          <p:nvPr/>
        </p:nvSpPr>
        <p:spPr>
          <a:xfrm>
            <a:off x="6757416" y="3502151"/>
            <a:ext cx="4882896" cy="301752"/>
          </a:xfrm>
          <a:prstGeom prst="rect">
            <a:avLst/>
          </a:prstGeom>
          <a:noFill/>
        </p:spPr>
        <p:txBody>
          <a:bodyPr wrap="square" lIns="0" rIns="0" tIns="0" bIns="0">
            <a:spAutoFit/>
          </a:bodyPr>
          <a:lstStyle/>
          <a:p>
            <a:pPr algn="l"/>
            <a:r>
              <a:rPr sz="1200" b="0">
                <a:solidFill>
                  <a:srgbClr val="E8EDF3"/>
                </a:solidFill>
                <a:latin typeface="Calibri"/>
              </a:rPr>
              <a:t>Average rank — top vendor across all models. 1.0.</a:t>
            </a:r>
          </a:p>
        </p:txBody>
      </p:sp>
      <p:sp>
        <p:nvSpPr>
          <p:cNvPr id="17" name="TextBox 16"/>
          <p:cNvSpPr txBox="1"/>
          <p:nvPr/>
        </p:nvSpPr>
        <p:spPr>
          <a:xfrm>
            <a:off x="6446520" y="3909059"/>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18" name="TextBox 17"/>
          <p:cNvSpPr txBox="1"/>
          <p:nvPr/>
        </p:nvSpPr>
        <p:spPr>
          <a:xfrm>
            <a:off x="6757416" y="3909059"/>
            <a:ext cx="4882896" cy="301752"/>
          </a:xfrm>
          <a:prstGeom prst="rect">
            <a:avLst/>
          </a:prstGeom>
          <a:noFill/>
        </p:spPr>
        <p:txBody>
          <a:bodyPr wrap="square" lIns="0" rIns="0" tIns="0" bIns="0">
            <a:spAutoFit/>
          </a:bodyPr>
          <a:lstStyle/>
          <a:p>
            <a:pPr algn="l"/>
            <a:r>
              <a:rPr sz="1200" b="0">
                <a:solidFill>
                  <a:srgbClr val="E8EDF3"/>
                </a:solidFill>
                <a:latin typeface="Calibri"/>
              </a:rPr>
              <a:t/>
            </a:r>
          </a:p>
        </p:txBody>
      </p:sp>
      <p:sp>
        <p:nvSpPr>
          <p:cNvPr id="19" name="TextBox 18"/>
          <p:cNvSpPr txBox="1"/>
          <p:nvPr/>
        </p:nvSpPr>
        <p:spPr>
          <a:xfrm>
            <a:off x="6446520" y="4315968"/>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20" name="TextBox 19"/>
          <p:cNvSpPr txBox="1"/>
          <p:nvPr/>
        </p:nvSpPr>
        <p:spPr>
          <a:xfrm>
            <a:off x="6757416" y="4315968"/>
            <a:ext cx="4882896" cy="932688"/>
          </a:xfrm>
          <a:prstGeom prst="rect">
            <a:avLst/>
          </a:prstGeom>
          <a:noFill/>
        </p:spPr>
        <p:txBody>
          <a:bodyPr wrap="square" lIns="0" rIns="0" tIns="0" bIns="0">
            <a:spAutoFit/>
          </a:bodyPr>
          <a:lstStyle/>
          <a:p>
            <a:pPr algn="l"/>
            <a:r>
              <a:rPr sz="1200" b="0">
                <a:solidFill>
                  <a:srgbClr val="E8EDF3"/>
                </a:solidFill>
                <a:latin typeface="Calibri"/>
              </a:rPr>
              <a:t>Every other section reports what the selected model says. This one asks whether that answer is an artefact of having selected it. Nine of eleven vendors hold tier and nothing migrates, so it isn't.</a:t>
            </a:r>
          </a:p>
        </p:txBody>
      </p:sp>
      <p:sp>
        <p:nvSpPr>
          <p:cNvPr id="21" name="TextBox 20"/>
          <p:cNvSpPr txBox="1"/>
          <p:nvPr/>
        </p:nvSpPr>
        <p:spPr>
          <a:xfrm>
            <a:off x="6446520" y="5340096"/>
            <a:ext cx="201168" cy="256032"/>
          </a:xfrm>
          <a:prstGeom prst="rect">
            <a:avLst/>
          </a:prstGeom>
          <a:noFill/>
        </p:spPr>
        <p:txBody>
          <a:bodyPr wrap="square" lIns="0" rIns="0" tIns="0" bIns="0">
            <a:spAutoFit/>
          </a:bodyPr>
          <a:lstStyle/>
          <a:p>
            <a:pPr algn="l"/>
            <a:r>
              <a:rPr sz="1100" b="0">
                <a:solidFill>
                  <a:srgbClr val="D4AF37"/>
                </a:solidFill>
                <a:latin typeface="Consolas"/>
              </a:rPr>
              <a:t>—</a:t>
            </a:r>
          </a:p>
        </p:txBody>
      </p:sp>
      <p:sp>
        <p:nvSpPr>
          <p:cNvPr id="22" name="TextBox 21"/>
          <p:cNvSpPr txBox="1"/>
          <p:nvPr/>
        </p:nvSpPr>
        <p:spPr>
          <a:xfrm>
            <a:off x="6757416" y="5340096"/>
            <a:ext cx="4882896" cy="512064"/>
          </a:xfrm>
          <a:prstGeom prst="rect">
            <a:avLst/>
          </a:prstGeom>
          <a:noFill/>
        </p:spPr>
        <p:txBody>
          <a:bodyPr wrap="square" lIns="0" rIns="0" tIns="0" bIns="0">
            <a:spAutoFit/>
          </a:bodyPr>
          <a:lstStyle/>
          <a:p>
            <a:pPr algn="l"/>
            <a:r>
              <a:rPr sz="1200" b="0">
                <a:solidFill>
                  <a:srgbClr val="E8EDF3"/>
                </a:solidFill>
                <a:latin typeface="Calibri"/>
              </a:rPr>
              <a:t>Where consensus runs low, the honest move is to act on the vendors all six models agree about and leave the rest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TextBox 1"/>
          <p:cNvSpPr txBox="1"/>
          <p:nvPr/>
        </p:nvSpPr>
        <p:spPr>
          <a:xfrm>
            <a:off x="548640" y="274320"/>
            <a:ext cx="11155680" cy="566928"/>
          </a:xfrm>
          <a:prstGeom prst="rect">
            <a:avLst/>
          </a:prstGeom>
          <a:noFill/>
        </p:spPr>
        <p:txBody>
          <a:bodyPr wrap="square" lIns="0" rIns="0" tIns="0" bIns="0">
            <a:spAutoFit/>
          </a:bodyPr>
          <a:lstStyle/>
          <a:p>
            <a:pPr algn="l"/>
            <a:r>
              <a:rPr sz="2800" b="1">
                <a:solidFill>
                  <a:srgbClr val="E8EDF3"/>
                </a:solidFill>
                <a:latin typeface="Cambria"/>
              </a:rPr>
              <a:t>What the page decides for you</a:t>
            </a:r>
          </a:p>
        </p:txBody>
      </p:sp>
      <p:sp>
        <p:nvSpPr>
          <p:cNvPr id="3" name="TextBox 2"/>
          <p:cNvSpPr txBox="1"/>
          <p:nvPr/>
        </p:nvSpPr>
        <p:spPr>
          <a:xfrm>
            <a:off x="548640" y="841248"/>
            <a:ext cx="11155680" cy="310896"/>
          </a:xfrm>
          <a:prstGeom prst="rect">
            <a:avLst/>
          </a:prstGeom>
          <a:noFill/>
        </p:spPr>
        <p:txBody>
          <a:bodyPr wrap="square" lIns="0" rIns="0" tIns="0" bIns="0">
            <a:spAutoFit/>
          </a:bodyPr>
          <a:lstStyle/>
          <a:p>
            <a:pPr algn="l"/>
            <a:r>
              <a:rPr sz="1250" b="0">
                <a:solidFill>
                  <a:srgbClr val="8A94A0"/>
                </a:solidFill>
                <a:latin typeface="Calibri"/>
              </a:rPr>
              <a:t>Six behaviours, each governed by fixed and auditable rules</a:t>
            </a:r>
          </a:p>
        </p:txBody>
      </p:sp>
      <p:sp>
        <p:nvSpPr>
          <p:cNvPr id="4" name="Rounded Rectangle 3"/>
          <p:cNvSpPr/>
          <p:nvPr/>
        </p:nvSpPr>
        <p:spPr>
          <a:xfrm>
            <a:off x="548640" y="141732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581912"/>
            <a:ext cx="914400" cy="274320"/>
          </a:xfrm>
          <a:prstGeom prst="rect">
            <a:avLst/>
          </a:prstGeom>
          <a:noFill/>
        </p:spPr>
        <p:txBody>
          <a:bodyPr wrap="square" lIns="0" rIns="0" tIns="0" bIns="0">
            <a:spAutoFit/>
          </a:bodyPr>
          <a:lstStyle/>
          <a:p>
            <a:pPr algn="l"/>
            <a:r>
              <a:rPr sz="1300" b="1">
                <a:solidFill>
                  <a:srgbClr val="D4AF37"/>
                </a:solidFill>
                <a:latin typeface="Consolas"/>
              </a:rPr>
              <a:t>01</a:t>
            </a:r>
          </a:p>
        </p:txBody>
      </p:sp>
      <p:sp>
        <p:nvSpPr>
          <p:cNvPr id="6" name="TextBox 5"/>
          <p:cNvSpPr txBox="1"/>
          <p:nvPr/>
        </p:nvSpPr>
        <p:spPr>
          <a:xfrm>
            <a:off x="804672" y="1947672"/>
            <a:ext cx="3054096" cy="365760"/>
          </a:xfrm>
          <a:prstGeom prst="rect">
            <a:avLst/>
          </a:prstGeom>
          <a:noFill/>
        </p:spPr>
        <p:txBody>
          <a:bodyPr wrap="square" lIns="0" rIns="0" tIns="0" bIns="0">
            <a:spAutoFit/>
          </a:bodyPr>
          <a:lstStyle/>
          <a:p>
            <a:pPr algn="l"/>
            <a:r>
              <a:rPr sz="1400" b="1">
                <a:solidFill>
                  <a:srgbClr val="E8EDF3"/>
                </a:solidFill>
                <a:latin typeface="Cambria"/>
              </a:rPr>
              <a:t>Declares its own bias</a:t>
            </a:r>
          </a:p>
        </p:txBody>
      </p:sp>
      <p:sp>
        <p:nvSpPr>
          <p:cNvPr id="7" name="TextBox 6"/>
          <p:cNvSpPr txBox="1"/>
          <p:nvPr/>
        </p:nvSpPr>
        <p:spPr>
          <a:xfrm>
            <a:off x="804672" y="237744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Five fixed dimensions, stated before any vendor is ranked</a:t>
            </a:r>
          </a:p>
        </p:txBody>
      </p:sp>
      <p:sp>
        <p:nvSpPr>
          <p:cNvPr id="8" name="Rounded Rectangle 7"/>
          <p:cNvSpPr/>
          <p:nvPr/>
        </p:nvSpPr>
        <p:spPr>
          <a:xfrm>
            <a:off x="4315968" y="141732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581912"/>
            <a:ext cx="914400" cy="274320"/>
          </a:xfrm>
          <a:prstGeom prst="rect">
            <a:avLst/>
          </a:prstGeom>
          <a:noFill/>
        </p:spPr>
        <p:txBody>
          <a:bodyPr wrap="square" lIns="0" rIns="0" tIns="0" bIns="0">
            <a:spAutoFit/>
          </a:bodyPr>
          <a:lstStyle/>
          <a:p>
            <a:pPr algn="l"/>
            <a:r>
              <a:rPr sz="1300" b="1">
                <a:solidFill>
                  <a:srgbClr val="D4AF37"/>
                </a:solidFill>
                <a:latin typeface="Consolas"/>
              </a:rPr>
              <a:t>02</a:t>
            </a:r>
          </a:p>
        </p:txBody>
      </p:sp>
      <p:sp>
        <p:nvSpPr>
          <p:cNvPr id="10" name="TextBox 9"/>
          <p:cNvSpPr txBox="1"/>
          <p:nvPr/>
        </p:nvSpPr>
        <p:spPr>
          <a:xfrm>
            <a:off x="4572000" y="1947672"/>
            <a:ext cx="3054096" cy="365760"/>
          </a:xfrm>
          <a:prstGeom prst="rect">
            <a:avLst/>
          </a:prstGeom>
          <a:noFill/>
        </p:spPr>
        <p:txBody>
          <a:bodyPr wrap="square" lIns="0" rIns="0" tIns="0" bIns="0">
            <a:spAutoFit/>
          </a:bodyPr>
          <a:lstStyle/>
          <a:p>
            <a:pPr algn="l"/>
            <a:r>
              <a:rPr sz="1400" b="1">
                <a:solidFill>
                  <a:srgbClr val="E8EDF3"/>
                </a:solidFill>
                <a:latin typeface="Cambria"/>
              </a:rPr>
              <a:t>Tests the model against your journeys</a:t>
            </a:r>
          </a:p>
        </p:txBody>
      </p:sp>
      <p:sp>
        <p:nvSpPr>
          <p:cNvPr id="11" name="TextBox 10"/>
          <p:cNvSpPr txBox="1"/>
          <p:nvPr/>
        </p:nvSpPr>
        <p:spPr>
          <a:xfrm>
            <a:off x="4572000" y="237744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A penalty ladder on average touches and elapsed days, with a different enemy for every model. This is the step most attribution tooling skips entirely</a:t>
            </a:r>
          </a:p>
        </p:txBody>
      </p:sp>
      <p:sp>
        <p:nvSpPr>
          <p:cNvPr id="12" name="Rounded Rectangle 11"/>
          <p:cNvSpPr/>
          <p:nvPr/>
        </p:nvSpPr>
        <p:spPr>
          <a:xfrm>
            <a:off x="8083296" y="141732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1581912"/>
            <a:ext cx="914400" cy="274320"/>
          </a:xfrm>
          <a:prstGeom prst="rect">
            <a:avLst/>
          </a:prstGeom>
          <a:noFill/>
        </p:spPr>
        <p:txBody>
          <a:bodyPr wrap="square" lIns="0" rIns="0" tIns="0" bIns="0">
            <a:spAutoFit/>
          </a:bodyPr>
          <a:lstStyle/>
          <a:p>
            <a:pPr algn="l"/>
            <a:r>
              <a:rPr sz="1300" b="1">
                <a:solidFill>
                  <a:srgbClr val="D4AF37"/>
                </a:solidFill>
                <a:latin typeface="Consolas"/>
              </a:rPr>
              <a:t>03</a:t>
            </a:r>
          </a:p>
        </p:txBody>
      </p:sp>
      <p:sp>
        <p:nvSpPr>
          <p:cNvPr id="14" name="TextBox 13"/>
          <p:cNvSpPr txBox="1"/>
          <p:nvPr/>
        </p:nvSpPr>
        <p:spPr>
          <a:xfrm>
            <a:off x="8339327" y="1947672"/>
            <a:ext cx="3054096" cy="365760"/>
          </a:xfrm>
          <a:prstGeom prst="rect">
            <a:avLst/>
          </a:prstGeom>
          <a:noFill/>
        </p:spPr>
        <p:txBody>
          <a:bodyPr wrap="square" lIns="0" rIns="0" tIns="0" bIns="0">
            <a:spAutoFit/>
          </a:bodyPr>
          <a:lstStyle/>
          <a:p>
            <a:pPr algn="l"/>
            <a:r>
              <a:rPr sz="1400" b="1">
                <a:solidFill>
                  <a:srgbClr val="E8EDF3"/>
                </a:solidFill>
                <a:latin typeface="Cambria"/>
              </a:rPr>
              <a:t>Separates fit from trust</a:t>
            </a:r>
          </a:p>
        </p:txBody>
      </p:sp>
      <p:sp>
        <p:nvSpPr>
          <p:cNvPr id="15" name="TextBox 14"/>
          <p:cNvSpPr txBox="1"/>
          <p:nvPr/>
        </p:nvSpPr>
        <p:spPr>
          <a:xfrm>
            <a:off x="8339327" y="237744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Behavioural plausibility and operational defensibility scored apart, then weighted 40/60</a:t>
            </a:r>
          </a:p>
        </p:txBody>
      </p:sp>
      <p:sp>
        <p:nvSpPr>
          <p:cNvPr id="16" name="Rounded Rectangle 15"/>
          <p:cNvSpPr/>
          <p:nvPr/>
        </p:nvSpPr>
        <p:spPr>
          <a:xfrm>
            <a:off x="548640" y="379476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59352"/>
            <a:ext cx="914400" cy="274320"/>
          </a:xfrm>
          <a:prstGeom prst="rect">
            <a:avLst/>
          </a:prstGeom>
          <a:noFill/>
        </p:spPr>
        <p:txBody>
          <a:bodyPr wrap="square" lIns="0" rIns="0" tIns="0" bIns="0">
            <a:spAutoFit/>
          </a:bodyPr>
          <a:lstStyle/>
          <a:p>
            <a:pPr algn="l"/>
            <a:r>
              <a:rPr sz="1300" b="1">
                <a:solidFill>
                  <a:srgbClr val="D4AF37"/>
                </a:solidFill>
                <a:latin typeface="Consolas"/>
              </a:rPr>
              <a:t>04</a:t>
            </a:r>
          </a:p>
        </p:txBody>
      </p:sp>
      <p:sp>
        <p:nvSpPr>
          <p:cNvPr id="18" name="TextBox 17"/>
          <p:cNvSpPr txBox="1"/>
          <p:nvPr/>
        </p:nvSpPr>
        <p:spPr>
          <a:xfrm>
            <a:off x="804672" y="4325112"/>
            <a:ext cx="3054096" cy="365760"/>
          </a:xfrm>
          <a:prstGeom prst="rect">
            <a:avLst/>
          </a:prstGeom>
          <a:noFill/>
        </p:spPr>
        <p:txBody>
          <a:bodyPr wrap="square" lIns="0" rIns="0" tIns="0" bIns="0">
            <a:spAutoFit/>
          </a:bodyPr>
          <a:lstStyle/>
          <a:p>
            <a:pPr algn="l"/>
            <a:r>
              <a:rPr sz="1400" b="1">
                <a:solidFill>
                  <a:srgbClr val="E8EDF3"/>
                </a:solidFill>
                <a:latin typeface="Cambria"/>
              </a:rPr>
              <a:t>Names one model and prices the gap</a:t>
            </a:r>
          </a:p>
        </p:txBody>
      </p:sp>
      <p:sp>
        <p:nvSpPr>
          <p:cNvPr id="19" name="TextBox 18"/>
          <p:cNvSpPr txBox="1"/>
          <p:nvPr/>
        </p:nvSpPr>
        <p:spPr>
          <a:xfrm>
            <a:off x="804672" y="475488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Highest Overall Fit wins outright, and the difference is restated in leases and dollars</a:t>
            </a:r>
          </a:p>
        </p:txBody>
      </p:sp>
      <p:sp>
        <p:nvSpPr>
          <p:cNvPr id="20" name="Rounded Rectangle 19"/>
          <p:cNvSpPr/>
          <p:nvPr/>
        </p:nvSpPr>
        <p:spPr>
          <a:xfrm>
            <a:off x="4315968" y="379476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959352"/>
            <a:ext cx="914400" cy="274320"/>
          </a:xfrm>
          <a:prstGeom prst="rect">
            <a:avLst/>
          </a:prstGeom>
          <a:noFill/>
        </p:spPr>
        <p:txBody>
          <a:bodyPr wrap="square" lIns="0" rIns="0" tIns="0" bIns="0">
            <a:spAutoFit/>
          </a:bodyPr>
          <a:lstStyle/>
          <a:p>
            <a:pPr algn="l"/>
            <a:r>
              <a:rPr sz="1300" b="1">
                <a:solidFill>
                  <a:srgbClr val="D4AF37"/>
                </a:solidFill>
                <a:latin typeface="Consolas"/>
              </a:rPr>
              <a:t>05</a:t>
            </a:r>
          </a:p>
        </p:txBody>
      </p:sp>
      <p:sp>
        <p:nvSpPr>
          <p:cNvPr id="22" name="TextBox 21"/>
          <p:cNvSpPr txBox="1"/>
          <p:nvPr/>
        </p:nvSpPr>
        <p:spPr>
          <a:xfrm>
            <a:off x="4572000" y="4325112"/>
            <a:ext cx="3054096" cy="365760"/>
          </a:xfrm>
          <a:prstGeom prst="rect">
            <a:avLst/>
          </a:prstGeom>
          <a:noFill/>
        </p:spPr>
        <p:txBody>
          <a:bodyPr wrap="square" lIns="0" rIns="0" tIns="0" bIns="0">
            <a:spAutoFit/>
          </a:bodyPr>
          <a:lstStyle/>
          <a:p>
            <a:pPr algn="l"/>
            <a:r>
              <a:rPr sz="1400" b="1">
                <a:solidFill>
                  <a:srgbClr val="E8EDF3"/>
                </a:solidFill>
                <a:latin typeface="Cambria"/>
              </a:rPr>
              <a:t>Checks its own stability</a:t>
            </a:r>
          </a:p>
        </p:txBody>
      </p:sp>
      <p:sp>
        <p:nvSpPr>
          <p:cNvPr id="23" name="TextBox 22"/>
          <p:cNvSpPr txBox="1"/>
          <p:nvPr/>
        </p:nvSpPr>
        <p:spPr>
          <a:xfrm>
            <a:off x="4572000" y="475488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Five tests re-run the recommendation across all six models</a:t>
            </a:r>
          </a:p>
        </p:txBody>
      </p:sp>
      <p:sp>
        <p:nvSpPr>
          <p:cNvPr id="24" name="Rounded Rectangle 23"/>
          <p:cNvSpPr/>
          <p:nvPr/>
        </p:nvSpPr>
        <p:spPr>
          <a:xfrm>
            <a:off x="8083296" y="3794760"/>
            <a:ext cx="3566160" cy="2057400"/>
          </a:xfrm>
          <a:prstGeom prst="roundRect">
            <a:avLst>
              <a:gd name="adj" fmla="val 3000"/>
            </a:avLst>
          </a:prstGeom>
          <a:solidFill>
            <a:srgbClr val="1A2029"/>
          </a:solidFill>
          <a:ln w="9525">
            <a:solidFill>
              <a:srgbClr val="2A32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7" y="3959352"/>
            <a:ext cx="914400" cy="274320"/>
          </a:xfrm>
          <a:prstGeom prst="rect">
            <a:avLst/>
          </a:prstGeom>
          <a:noFill/>
        </p:spPr>
        <p:txBody>
          <a:bodyPr wrap="square" lIns="0" rIns="0" tIns="0" bIns="0">
            <a:spAutoFit/>
          </a:bodyPr>
          <a:lstStyle/>
          <a:p>
            <a:pPr algn="l"/>
            <a:r>
              <a:rPr sz="1300" b="1">
                <a:solidFill>
                  <a:srgbClr val="D4AF37"/>
                </a:solidFill>
                <a:latin typeface="Consolas"/>
              </a:rPr>
              <a:t>06</a:t>
            </a:r>
          </a:p>
        </p:txBody>
      </p:sp>
      <p:sp>
        <p:nvSpPr>
          <p:cNvPr id="26" name="TextBox 25"/>
          <p:cNvSpPr txBox="1"/>
          <p:nvPr/>
        </p:nvSpPr>
        <p:spPr>
          <a:xfrm>
            <a:off x="8339327" y="4325112"/>
            <a:ext cx="3054096" cy="365760"/>
          </a:xfrm>
          <a:prstGeom prst="rect">
            <a:avLst/>
          </a:prstGeom>
          <a:noFill/>
        </p:spPr>
        <p:txBody>
          <a:bodyPr wrap="square" lIns="0" rIns="0" tIns="0" bIns="0">
            <a:spAutoFit/>
          </a:bodyPr>
          <a:lstStyle/>
          <a:p>
            <a:pPr algn="l"/>
            <a:r>
              <a:rPr sz="1400" b="1">
                <a:solidFill>
                  <a:srgbClr val="E8EDF3"/>
                </a:solidFill>
                <a:latin typeface="Cambria"/>
              </a:rPr>
              <a:t>Stops short of switching</a:t>
            </a:r>
          </a:p>
        </p:txBody>
      </p:sp>
      <p:sp>
        <p:nvSpPr>
          <p:cNvPr id="27" name="TextBox 26"/>
          <p:cNvSpPr txBox="1"/>
          <p:nvPr/>
        </p:nvSpPr>
        <p:spPr>
          <a:xfrm>
            <a:off x="8339327" y="4754880"/>
            <a:ext cx="3054096" cy="914400"/>
          </a:xfrm>
          <a:prstGeom prst="rect">
            <a:avLst/>
          </a:prstGeom>
          <a:noFill/>
        </p:spPr>
        <p:txBody>
          <a:bodyPr wrap="square" lIns="0" rIns="0" tIns="0" bIns="0">
            <a:spAutoFit/>
          </a:bodyPr>
          <a:lstStyle/>
          <a:p>
            <a:pPr algn="l">
              <a:spcAft>
                <a:spcPts val="300"/>
              </a:spcAft>
            </a:pPr>
            <a:r>
              <a:rPr sz="1050" b="0">
                <a:solidFill>
                  <a:srgbClr val="8A94A0"/>
                </a:solidFill>
                <a:latin typeface="Calibri"/>
              </a:rPr>
              <a:t>A defensible position, handed over. The commercial decision stays with the operator</a:t>
            </a:r>
          </a:p>
        </p:txBody>
      </p:sp>
      <p:sp>
        <p:nvSpPr>
          <p:cNvPr id="28" name="TextBox 27"/>
          <p:cNvSpPr txBox="1"/>
          <p:nvPr/>
        </p:nvSpPr>
        <p:spPr>
          <a:xfrm>
            <a:off x="548640" y="5943600"/>
            <a:ext cx="11155680" cy="274320"/>
          </a:xfrm>
          <a:prstGeom prst="rect">
            <a:avLst/>
          </a:prstGeom>
          <a:noFill/>
        </p:spPr>
        <p:txBody>
          <a:bodyPr wrap="square" lIns="0" rIns="0" tIns="0" bIns="0">
            <a:spAutoFit/>
          </a:bodyPr>
          <a:lstStyle/>
          <a:p>
            <a:pPr algn="l"/>
            <a:r>
              <a:rPr sz="1150" b="0">
                <a:solidFill>
                  <a:srgbClr val="67737F"/>
                </a:solidFill>
                <a:latin typeface="Calibri"/>
              </a:rPr>
              <a:t>The models disagree by design. The page measures the disagreement rather than quietly resolving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115"/>
        </a:solidFill>
        <a:effectLst/>
      </p:bgPr>
    </p:bg>
    <p:spTree>
      <p:nvGrpSpPr>
        <p:cNvPr id="1" name=""/>
        <p:cNvGrpSpPr/>
        <p:nvPr/>
      </p:nvGrpSpPr>
      <p:grpSpPr/>
      <p:sp>
        <p:nvSpPr>
          <p:cNvPr id="2" name="Oval 1"/>
          <p:cNvSpPr/>
          <p:nvPr/>
        </p:nvSpPr>
        <p:spPr>
          <a:xfrm>
            <a:off x="8686800" y="-1737360"/>
            <a:ext cx="6309360" cy="6309360"/>
          </a:xfrm>
          <a:prstGeom prst="ellipse">
            <a:avLst/>
          </a:prstGeom>
          <a:solidFill>
            <a:srgbClr val="16202C"/>
          </a:solidFill>
          <a:ln>
            <a:solidFill>
              <a:srgbClr val="162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49840" y="-365760"/>
            <a:ext cx="3383280" cy="3383280"/>
          </a:xfrm>
          <a:prstGeom prst="ellipse">
            <a:avLst/>
          </a:prstGeom>
          <a:solidFill>
            <a:srgbClr val="1D2B3A"/>
          </a:solidFill>
          <a:ln>
            <a:solidFill>
              <a:srgbClr val="1D2B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11680"/>
            <a:ext cx="8229600" cy="274320"/>
          </a:xfrm>
          <a:prstGeom prst="rect">
            <a:avLst/>
          </a:prstGeom>
          <a:noFill/>
        </p:spPr>
        <p:txBody>
          <a:bodyPr wrap="square" lIns="0" rIns="0" tIns="0" bIns="0">
            <a:spAutoFit/>
          </a:bodyPr>
          <a:lstStyle/>
          <a:p>
            <a:pPr algn="l"/>
            <a:r>
              <a:rPr sz="1100" b="1">
                <a:solidFill>
                  <a:srgbClr val="D4AF37"/>
                </a:solidFill>
                <a:latin typeface="Calibri"/>
              </a:rPr>
              <a:t>NORTHSTAR INTELLIGENCE PLATFORM</a:t>
            </a:r>
          </a:p>
        </p:txBody>
      </p:sp>
      <p:sp>
        <p:nvSpPr>
          <p:cNvPr id="5" name="TextBox 4"/>
          <p:cNvSpPr txBox="1"/>
          <p:nvPr/>
        </p:nvSpPr>
        <p:spPr>
          <a:xfrm>
            <a:off x="777240" y="2514600"/>
            <a:ext cx="8686800" cy="1554480"/>
          </a:xfrm>
          <a:prstGeom prst="rect">
            <a:avLst/>
          </a:prstGeom>
          <a:noFill/>
        </p:spPr>
        <p:txBody>
          <a:bodyPr wrap="square" lIns="0" rIns="0" tIns="0" bIns="0">
            <a:spAutoFit/>
          </a:bodyPr>
          <a:lstStyle/>
          <a:p>
            <a:pPr algn="l">
              <a:spcAft>
                <a:spcPts val="200"/>
              </a:spcAft>
            </a:pPr>
            <a:r>
              <a:rPr sz="4000" b="1">
                <a:solidFill>
                  <a:srgbClr val="E8EDF3"/>
                </a:solidFill>
                <a:latin typeface="Cambria"/>
              </a:rPr>
              <a:t>The model is a choice.</a:t>
            </a:r>
          </a:p>
          <a:p>
            <a:pPr algn="l">
              <a:spcAft>
                <a:spcPts val="200"/>
              </a:spcAft>
            </a:pPr>
            <a:r>
              <a:rPr sz="4000" b="1">
                <a:solidFill>
                  <a:srgbClr val="E8EDF3"/>
                </a:solidFill>
                <a:latin typeface="Cambria"/>
              </a:rPr>
              <a:t>The page prices it.</a:t>
            </a:r>
          </a:p>
        </p:txBody>
      </p:sp>
      <p:sp>
        <p:nvSpPr>
          <p:cNvPr id="6" name="TextBox 5"/>
          <p:cNvSpPr txBox="1"/>
          <p:nvPr/>
        </p:nvSpPr>
        <p:spPr>
          <a:xfrm>
            <a:off x="777240" y="4663440"/>
            <a:ext cx="8229600" cy="320040"/>
          </a:xfrm>
          <a:prstGeom prst="rect">
            <a:avLst/>
          </a:prstGeom>
          <a:noFill/>
        </p:spPr>
        <p:txBody>
          <a:bodyPr wrap="square" lIns="0" rIns="0" tIns="0" bIns="0">
            <a:spAutoFit/>
          </a:bodyPr>
          <a:lstStyle/>
          <a:p>
            <a:pPr algn="l"/>
            <a:r>
              <a:rPr sz="1250" b="0">
                <a:solidFill>
                  <a:srgbClr val="67737F"/>
                </a:solidFill>
                <a:latin typeface="Calibri"/>
              </a:rPr>
              <a:t>Attribution Lab  ·  Visual logic &amp; calculations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