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Oval 1"/>
          <p:cNvSpPr/>
          <p:nvPr/>
        </p:nvSpPr>
        <p:spPr>
          <a:xfrm>
            <a:off x="8686800" y="-1737360"/>
            <a:ext cx="6309360" cy="6309360"/>
          </a:xfrm>
          <a:prstGeom prst="ellipse">
            <a:avLst/>
          </a:prstGeom>
          <a:solidFill>
            <a:srgbClr val="16202C"/>
          </a:solidFill>
          <a:ln>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365760"/>
            <a:ext cx="3383280" cy="3383280"/>
          </a:xfrm>
          <a:prstGeom prst="ellipse">
            <a:avLst/>
          </a:prstGeom>
          <a:solidFill>
            <a:srgbClr val="1D2B3A"/>
          </a:solidFill>
          <a:ln>
            <a:solidFill>
              <a:srgbClr val="1D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8229600" cy="274320"/>
          </a:xfrm>
          <a:prstGeom prst="rect">
            <a:avLst/>
          </a:prstGeom>
          <a:noFill/>
        </p:spPr>
        <p:txBody>
          <a:bodyPr wrap="square" lIns="0" rIns="0" tIns="0" bIns="0">
            <a:spAutoFit/>
          </a:bodyPr>
          <a:lstStyle/>
          <a:p>
            <a:pPr algn="l"/>
            <a:r>
              <a:rPr sz="1100" b="1">
                <a:solidFill>
                  <a:srgbClr val="D4AF37"/>
                </a:solidFill>
                <a:latin typeface="Calibri"/>
              </a:rPr>
              <a:t>NORTHSTAR INTELLIGENCE PLATFORM</a:t>
            </a:r>
          </a:p>
        </p:txBody>
      </p:sp>
      <p:sp>
        <p:nvSpPr>
          <p:cNvPr id="5" name="TextBox 4"/>
          <p:cNvSpPr txBox="1"/>
          <p:nvPr/>
        </p:nvSpPr>
        <p:spPr>
          <a:xfrm>
            <a:off x="777240" y="2176272"/>
            <a:ext cx="8686800" cy="914400"/>
          </a:xfrm>
          <a:prstGeom prst="rect">
            <a:avLst/>
          </a:prstGeom>
          <a:noFill/>
        </p:spPr>
        <p:txBody>
          <a:bodyPr wrap="square" lIns="0" rIns="0" tIns="0" bIns="0">
            <a:spAutoFit/>
          </a:bodyPr>
          <a:lstStyle/>
          <a:p>
            <a:pPr algn="l"/>
            <a:r>
              <a:rPr sz="4600" b="1">
                <a:solidFill>
                  <a:srgbClr val="E8EDF3"/>
                </a:solidFill>
                <a:latin typeface="Cambria"/>
              </a:rPr>
              <a:t>Attribution Lab</a:t>
            </a:r>
          </a:p>
        </p:txBody>
      </p:sp>
      <p:sp>
        <p:nvSpPr>
          <p:cNvPr id="6" name="TextBox 5"/>
          <p:cNvSpPr txBox="1"/>
          <p:nvPr/>
        </p:nvSpPr>
        <p:spPr>
          <a:xfrm>
            <a:off x="777240" y="3090672"/>
            <a:ext cx="8686800" cy="411480"/>
          </a:xfrm>
          <a:prstGeom prst="rect">
            <a:avLst/>
          </a:prstGeom>
          <a:noFill/>
        </p:spPr>
        <p:txBody>
          <a:bodyPr wrap="square" lIns="0" rIns="0" tIns="0" bIns="0">
            <a:spAutoFit/>
          </a:bodyPr>
          <a:lstStyle/>
          <a:p>
            <a:pPr algn="l"/>
            <a:r>
              <a:rPr sz="1900" b="0">
                <a:solidFill>
                  <a:srgbClr val="7FB2E5"/>
                </a:solidFill>
                <a:latin typeface="Calibri"/>
              </a:rPr>
              <a:t>Visual logic &amp; calculations</a:t>
            </a:r>
          </a:p>
        </p:txBody>
      </p:sp>
      <p:sp>
        <p:nvSpPr>
          <p:cNvPr id="7" name="TextBox 6"/>
          <p:cNvSpPr txBox="1"/>
          <p:nvPr/>
        </p:nvSpPr>
        <p:spPr>
          <a:xfrm>
            <a:off x="777240" y="3794760"/>
            <a:ext cx="7680960" cy="822960"/>
          </a:xfrm>
          <a:prstGeom prst="rect">
            <a:avLst/>
          </a:prstGeom>
          <a:noFill/>
        </p:spPr>
        <p:txBody>
          <a:bodyPr wrap="square" lIns="0" rIns="0" tIns="0" bIns="0">
            <a:spAutoFit/>
          </a:bodyPr>
          <a:lstStyle/>
          <a:p>
            <a:pPr algn="l">
              <a:spcAft>
                <a:spcPts val="400"/>
              </a:spcAft>
            </a:pPr>
            <a:r>
              <a:rPr sz="1400" b="0">
                <a:solidFill>
                  <a:srgbClr val="8A94A0"/>
                </a:solidFill>
                <a:latin typeface="Calibri"/>
              </a:rPr>
              <a:t>Which attribution model fits the portfolio, what changes if you switch —</a:t>
            </a:r>
          </a:p>
          <a:p>
            <a:pPr algn="l">
              <a:spcAft>
                <a:spcPts val="400"/>
              </a:spcAft>
            </a:pPr>
            <a:r>
              <a:rPr sz="1400" b="0">
                <a:solidFill>
                  <a:srgbClr val="8A94A0"/>
                </a:solidFill>
                <a:latin typeface="Calibri"/>
              </a:rPr>
              <a:t>and the arithmetic behind every score the page reports.</a:t>
            </a:r>
          </a:p>
        </p:txBody>
      </p:sp>
      <p:sp>
        <p:nvSpPr>
          <p:cNvPr id="8" name="TextBox 7"/>
          <p:cNvSpPr txBox="1"/>
          <p:nvPr/>
        </p:nvSpPr>
        <p:spPr>
          <a:xfrm>
            <a:off x="777240" y="5120640"/>
            <a:ext cx="8229600" cy="320040"/>
          </a:xfrm>
          <a:prstGeom prst="rect">
            <a:avLst/>
          </a:prstGeom>
          <a:noFill/>
        </p:spPr>
        <p:txBody>
          <a:bodyPr wrap="square" lIns="0" rIns="0" tIns="0" bIns="0">
            <a:spAutoFit/>
          </a:bodyPr>
          <a:lstStyle/>
          <a:p>
            <a:pPr algn="l"/>
            <a:r>
              <a:rPr sz="1150" b="0">
                <a:solidFill>
                  <a:srgbClr val="67737F"/>
                </a:solidFill>
                <a:latin typeface="Calibri"/>
              </a:rPr>
              <a:t>Selected model: Last Touch  ·  recommended: First Touch  ·  6 models compared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The page — Model Discovery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Nine elements, all answering one question: does the model you chose actually fit your journeys?</a:t>
            </a:r>
          </a:p>
        </p:txBody>
      </p:sp>
      <p:pic>
        <p:nvPicPr>
          <p:cNvPr id="4" name="Picture 3" descr="p1_full.png"/>
          <p:cNvPicPr>
            <a:picLocks noChangeAspect="1"/>
          </p:cNvPicPr>
          <p:nvPr/>
        </p:nvPicPr>
        <p:blipFill>
          <a:blip r:embed="rId2"/>
          <a:stretch>
            <a:fillRect/>
          </a:stretch>
        </p:blipFill>
        <p:spPr>
          <a:xfrm>
            <a:off x="4711664" y="1325880"/>
            <a:ext cx="2765622" cy="484631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1 · Selected Model</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A credit rule, the belief it encodes, and the fit score that tests it</a:t>
            </a:r>
          </a:p>
        </p:txBody>
      </p:sp>
      <p:pic>
        <p:nvPicPr>
          <p:cNvPr id="4" name="Picture 3" descr="p1_selected_model.png"/>
          <p:cNvPicPr>
            <a:picLocks noChangeAspect="1"/>
          </p:cNvPicPr>
          <p:nvPr/>
        </p:nvPicPr>
        <p:blipFill>
          <a:blip r:embed="rId2"/>
          <a:stretch>
            <a:fillRect/>
          </a:stretch>
        </p:blipFill>
        <p:spPr>
          <a:xfrm>
            <a:off x="926950" y="1298448"/>
            <a:ext cx="3449618" cy="4754879"/>
          </a:xfrm>
          <a:prstGeom prst="rect">
            <a:avLst/>
          </a:prstGeom>
        </p:spPr>
      </p:pic>
      <p:sp>
        <p:nvSpPr>
          <p:cNvPr id="5" name="Rounded Rectangle 4"/>
          <p:cNvSpPr/>
          <p:nvPr/>
        </p:nvSpPr>
        <p:spPr>
          <a:xfrm>
            <a:off x="4983480" y="1298448"/>
            <a:ext cx="6656832" cy="214884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12080" y="1426464"/>
            <a:ext cx="6199632" cy="256032"/>
          </a:xfrm>
          <a:prstGeom prst="rect">
            <a:avLst/>
          </a:prstGeom>
          <a:noFill/>
        </p:spPr>
        <p:txBody>
          <a:bodyPr wrap="square" lIns="0" rIns="0" tIns="0" bIns="0">
            <a:spAutoFit/>
          </a:bodyPr>
          <a:lstStyle/>
          <a:p>
            <a:pPr algn="l"/>
            <a:r>
              <a:rPr sz="1000" b="1">
                <a:solidFill>
                  <a:srgbClr val="D4AF37"/>
                </a:solidFill>
                <a:latin typeface="Calibri"/>
              </a:rPr>
              <a:t>CREDIT DISTRIBUTION — LAST TOUCH</a:t>
            </a:r>
          </a:p>
        </p:txBody>
      </p:sp>
      <p:sp>
        <p:nvSpPr>
          <p:cNvPr id="7" name="TextBox 6"/>
          <p:cNvSpPr txBox="1"/>
          <p:nvPr/>
        </p:nvSpPr>
        <p:spPr>
          <a:xfrm>
            <a:off x="5212080" y="1719072"/>
            <a:ext cx="6199632" cy="1325880"/>
          </a:xfrm>
          <a:prstGeom prst="rect">
            <a:avLst/>
          </a:prstGeom>
          <a:noFill/>
        </p:spPr>
        <p:txBody>
          <a:bodyPr wrap="square" lIns="0" rIns="0" tIns="0" bIns="0">
            <a:spAutoFit/>
          </a:bodyPr>
          <a:lstStyle/>
          <a:p>
            <a:pPr algn="l">
              <a:spcAft>
                <a:spcPts val="100"/>
              </a:spcAft>
            </a:pPr>
            <a:r>
              <a:rPr sz="1050" b="0">
                <a:solidFill>
                  <a:srgbClr val="BFD2E4"/>
                </a:solidFill>
                <a:latin typeface="Consolas"/>
              </a:rPr>
              <a:t>First Touch    0%</a:t>
            </a:r>
          </a:p>
          <a:p>
            <a:pPr algn="l">
              <a:spcAft>
                <a:spcPts val="100"/>
              </a:spcAft>
            </a:pPr>
            <a:r>
              <a:rPr sz="1050" b="0">
                <a:solidFill>
                  <a:srgbClr val="BFD2E4"/>
                </a:solidFill>
                <a:latin typeface="Consolas"/>
              </a:rPr>
              <a:t>Midpoint       0%</a:t>
            </a:r>
          </a:p>
          <a:p>
            <a:pPr algn="l">
              <a:spcAft>
                <a:spcPts val="100"/>
              </a:spcAft>
            </a:pPr>
            <a:r>
              <a:rPr sz="1050" b="0">
                <a:solidFill>
                  <a:srgbClr val="BFD2E4"/>
                </a:solidFill>
                <a:latin typeface="Consolas"/>
              </a:rPr>
              <a:t>Last Touch   100%</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Every converting journey assigns its full</a:t>
            </a:r>
          </a:p>
          <a:p>
            <a:pPr algn="l">
              <a:spcAft>
                <a:spcPts val="100"/>
              </a:spcAft>
            </a:pPr>
            <a:r>
              <a:rPr sz="1050" b="0">
                <a:solidFill>
                  <a:srgbClr val="BFD2E4"/>
                </a:solidFill>
                <a:latin typeface="Consolas"/>
              </a:rPr>
              <a:t>credit to the final interaction before signature.</a:t>
            </a:r>
          </a:p>
        </p:txBody>
      </p:sp>
      <p:sp>
        <p:nvSpPr>
          <p:cNvPr id="8" name="TextBox 7"/>
          <p:cNvSpPr txBox="1"/>
          <p:nvPr/>
        </p:nvSpPr>
        <p:spPr>
          <a:xfrm>
            <a:off x="5212080" y="3118104"/>
            <a:ext cx="6199632" cy="256032"/>
          </a:xfrm>
          <a:prstGeom prst="rect">
            <a:avLst/>
          </a:prstGeom>
          <a:noFill/>
        </p:spPr>
        <p:txBody>
          <a:bodyPr wrap="square" lIns="0" rIns="0" tIns="0" bIns="0">
            <a:spAutoFit/>
          </a:bodyPr>
          <a:lstStyle/>
          <a:p>
            <a:pPr algn="l"/>
            <a:r>
              <a:rPr sz="950" b="0">
                <a:solidFill>
                  <a:srgbClr val="8A94A0"/>
                </a:solidFill>
                <a:latin typeface="Calibri"/>
              </a:rPr>
              <a:t>Six models, six credit rules — the same journeys, divided differently.</a:t>
            </a:r>
          </a:p>
        </p:txBody>
      </p:sp>
      <p:sp>
        <p:nvSpPr>
          <p:cNvPr id="9" name="Rounded Rectangle 8"/>
          <p:cNvSpPr/>
          <p:nvPr/>
        </p:nvSpPr>
        <p:spPr>
          <a:xfrm>
            <a:off x="4983480" y="3611880"/>
            <a:ext cx="3218688" cy="244144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3749040"/>
            <a:ext cx="2761488" cy="274320"/>
          </a:xfrm>
          <a:prstGeom prst="rect">
            <a:avLst/>
          </a:prstGeom>
          <a:noFill/>
        </p:spPr>
        <p:txBody>
          <a:bodyPr wrap="square" lIns="0" rIns="0" tIns="0" bIns="0">
            <a:spAutoFit/>
          </a:bodyPr>
          <a:lstStyle/>
          <a:p>
            <a:pPr algn="l"/>
            <a:r>
              <a:rPr sz="1400" b="1">
                <a:solidFill>
                  <a:srgbClr val="7FB2E5"/>
                </a:solidFill>
                <a:latin typeface="Cambria"/>
              </a:rPr>
              <a:t>What it does</a:t>
            </a:r>
          </a:p>
        </p:txBody>
      </p:sp>
      <p:sp>
        <p:nvSpPr>
          <p:cNvPr id="11" name="TextBox 10"/>
          <p:cNvSpPr txBox="1"/>
          <p:nvPr/>
        </p:nvSpPr>
        <p:spPr>
          <a:xfrm>
            <a:off x="5212080" y="4069080"/>
            <a:ext cx="2761488" cy="1801368"/>
          </a:xfrm>
          <a:prstGeom prst="rect">
            <a:avLst/>
          </a:prstGeom>
          <a:noFill/>
        </p:spPr>
        <p:txBody>
          <a:bodyPr wrap="square" lIns="0" rIns="0" tIns="0" bIns="0">
            <a:spAutoFit/>
          </a:bodyPr>
          <a:lstStyle/>
          <a:p>
            <a:pPr algn="l">
              <a:spcAft>
                <a:spcPts val="500"/>
              </a:spcAft>
            </a:pPr>
            <a:r>
              <a:rPr sz="1150" b="0">
                <a:solidFill>
                  <a:srgbClr val="E8EDF3"/>
                </a:solidFill>
                <a:latin typeface="Calibri"/>
              </a:rPr>
              <a:t>States the rule in plain language, then names the belief that rule commits you to.</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Last Touch asserts that closing intent is everything: whoever is present at the decision earns all of the credit.</a:t>
            </a:r>
          </a:p>
        </p:txBody>
      </p:sp>
      <p:sp>
        <p:nvSpPr>
          <p:cNvPr id="12" name="Rounded Rectangle 11"/>
          <p:cNvSpPr/>
          <p:nvPr/>
        </p:nvSpPr>
        <p:spPr>
          <a:xfrm>
            <a:off x="8421624" y="3611880"/>
            <a:ext cx="3218688" cy="244144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0224" y="3749040"/>
            <a:ext cx="2761488" cy="274320"/>
          </a:xfrm>
          <a:prstGeom prst="rect">
            <a:avLst/>
          </a:prstGeom>
          <a:noFill/>
        </p:spPr>
        <p:txBody>
          <a:bodyPr wrap="square" lIns="0" rIns="0" tIns="0" bIns="0">
            <a:spAutoFit/>
          </a:bodyPr>
          <a:lstStyle/>
          <a:p>
            <a:pPr algn="l"/>
            <a:r>
              <a:rPr sz="1400" b="1">
                <a:solidFill>
                  <a:srgbClr val="7FB2E5"/>
                </a:solidFill>
                <a:latin typeface="Cambria"/>
              </a:rPr>
              <a:t>Reading the score</a:t>
            </a:r>
          </a:p>
        </p:txBody>
      </p:sp>
      <p:sp>
        <p:nvSpPr>
          <p:cNvPr id="14" name="TextBox 13"/>
          <p:cNvSpPr txBox="1"/>
          <p:nvPr/>
        </p:nvSpPr>
        <p:spPr>
          <a:xfrm>
            <a:off x="8650224" y="4069080"/>
            <a:ext cx="2761488" cy="1801368"/>
          </a:xfrm>
          <a:prstGeom prst="rect">
            <a:avLst/>
          </a:prstGeom>
          <a:noFill/>
        </p:spPr>
        <p:txBody>
          <a:bodyPr wrap="square" lIns="0" rIns="0" tIns="0" bIns="0">
            <a:spAutoFit/>
          </a:bodyPr>
          <a:lstStyle/>
          <a:p>
            <a:pPr algn="l">
              <a:spcAft>
                <a:spcPts val="500"/>
              </a:spcAft>
            </a:pPr>
            <a:r>
              <a:rPr sz="1150" b="0">
                <a:solidFill>
                  <a:srgbClr val="E8EDF3"/>
                </a:solidFill>
                <a:latin typeface="Calibri"/>
              </a:rPr>
              <a:t>87 of 100 is the model's Overall Fit against this portfolio, not a quality rating of the model itself.</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A model can be defensible in general and still be the wrong lens for the journeys you actually have.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2 · Fit To Your Data</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The portfolio's journey shape, measured against what the model assumes</a:t>
            </a:r>
          </a:p>
        </p:txBody>
      </p:sp>
      <p:pic>
        <p:nvPicPr>
          <p:cNvPr id="4" name="Picture 3" descr="p1_fit_to_data.png"/>
          <p:cNvPicPr>
            <a:picLocks noChangeAspect="1"/>
          </p:cNvPicPr>
          <p:nvPr/>
        </p:nvPicPr>
        <p:blipFill>
          <a:blip r:embed="rId2"/>
          <a:stretch>
            <a:fillRect/>
          </a:stretch>
        </p:blipFill>
        <p:spPr>
          <a:xfrm>
            <a:off x="946145" y="1298448"/>
            <a:ext cx="3411228" cy="4754879"/>
          </a:xfrm>
          <a:prstGeom prst="rect">
            <a:avLst/>
          </a:prstGeom>
        </p:spPr>
      </p:pic>
      <p:sp>
        <p:nvSpPr>
          <p:cNvPr id="5" name="Rounded Rectangle 4"/>
          <p:cNvSpPr/>
          <p:nvPr/>
        </p:nvSpPr>
        <p:spPr>
          <a:xfrm>
            <a:off x="4983480" y="1298448"/>
            <a:ext cx="6656832" cy="233172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12080" y="1426464"/>
            <a:ext cx="6199632" cy="256032"/>
          </a:xfrm>
          <a:prstGeom prst="rect">
            <a:avLst/>
          </a:prstGeom>
          <a:noFill/>
        </p:spPr>
        <p:txBody>
          <a:bodyPr wrap="square" lIns="0" rIns="0" tIns="0" bIns="0">
            <a:spAutoFit/>
          </a:bodyPr>
          <a:lstStyle/>
          <a:p>
            <a:pPr algn="l"/>
            <a:r>
              <a:rPr sz="1000" b="1">
                <a:solidFill>
                  <a:srgbClr val="D4AF37"/>
                </a:solidFill>
                <a:latin typeface="Calibri"/>
              </a:rPr>
              <a:t>ASSUMPTION FIT — THE PENALTY LADDER</a:t>
            </a:r>
          </a:p>
        </p:txBody>
      </p:sp>
      <p:sp>
        <p:nvSpPr>
          <p:cNvPr id="7" name="TextBox 6"/>
          <p:cNvSpPr txBox="1"/>
          <p:nvPr/>
        </p:nvSpPr>
        <p:spPr>
          <a:xfrm>
            <a:off x="5212080" y="1719072"/>
            <a:ext cx="6199632" cy="1508760"/>
          </a:xfrm>
          <a:prstGeom prst="rect">
            <a:avLst/>
          </a:prstGeom>
          <a:noFill/>
        </p:spPr>
        <p:txBody>
          <a:bodyPr wrap="square" lIns="0" rIns="0" tIns="0" bIns="0">
            <a:spAutoFit/>
          </a:bodyPr>
          <a:lstStyle/>
          <a:p>
            <a:pPr algn="l">
              <a:spcAft>
                <a:spcPts val="100"/>
              </a:spcAft>
            </a:pPr>
            <a:r>
              <a:rPr sz="1050" b="0">
                <a:solidFill>
                  <a:srgbClr val="BFD2E4"/>
                </a:solidFill>
                <a:latin typeface="Consolas"/>
              </a:rPr>
              <a:t>avg touches ≤ 2     penalty  0</a:t>
            </a:r>
          </a:p>
          <a:p>
            <a:pPr algn="l">
              <a:spcAft>
                <a:spcPts val="100"/>
              </a:spcAft>
            </a:pPr>
            <a:r>
              <a:rPr sz="1050" b="0">
                <a:solidFill>
                  <a:srgbClr val="BFD2E4"/>
                </a:solidFill>
                <a:latin typeface="Consolas"/>
              </a:rPr>
              <a:t>            ≤ 4     penalty  5 + (t-2) × 7.5</a:t>
            </a:r>
          </a:p>
          <a:p>
            <a:pPr algn="l">
              <a:spcAft>
                <a:spcPts val="100"/>
              </a:spcAft>
            </a:pPr>
            <a:r>
              <a:rPr sz="1050" b="0">
                <a:solidFill>
                  <a:srgbClr val="BFD2E4"/>
                </a:solidFill>
                <a:latin typeface="Consolas"/>
              </a:rPr>
              <a:t>            ≤ 7     penalty 20 + (t-4) × 5</a:t>
            </a:r>
          </a:p>
          <a:p>
            <a:pPr algn="l">
              <a:spcAft>
                <a:spcPts val="100"/>
              </a:spcAft>
            </a:pPr>
            <a:r>
              <a:rPr sz="1050" b="0">
                <a:solidFill>
                  <a:srgbClr val="BFD2E4"/>
                </a:solidFill>
                <a:latin typeface="Consolas"/>
              </a:rPr>
              <a:t>            ≤ 12    penalty 35 + (t-7) × 5</a:t>
            </a:r>
          </a:p>
          <a:p>
            <a:pPr algn="l">
              <a:spcAft>
                <a:spcPts val="100"/>
              </a:spcAft>
            </a:pPr>
            <a:r>
              <a:rPr sz="1050" b="0">
                <a:solidFill>
                  <a:srgbClr val="BFD2E4"/>
                </a:solidFill>
                <a:latin typeface="Consolas"/>
              </a:rPr>
              <a:t>             &gt;12    penalty 60</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score = MAX(0, 100 - penalty)</a:t>
            </a:r>
          </a:p>
        </p:txBody>
      </p:sp>
      <p:sp>
        <p:nvSpPr>
          <p:cNvPr id="8" name="TextBox 7"/>
          <p:cNvSpPr txBox="1"/>
          <p:nvPr/>
        </p:nvSpPr>
        <p:spPr>
          <a:xfrm>
            <a:off x="5212080" y="3300984"/>
            <a:ext cx="6199632" cy="256032"/>
          </a:xfrm>
          <a:prstGeom prst="rect">
            <a:avLst/>
          </a:prstGeom>
          <a:noFill/>
        </p:spPr>
        <p:txBody>
          <a:bodyPr wrap="square" lIns="0" rIns="0" tIns="0" bIns="0">
            <a:spAutoFit/>
          </a:bodyPr>
          <a:lstStyle/>
          <a:p>
            <a:pPr algn="l"/>
            <a:r>
              <a:rPr sz="950" b="0">
                <a:solidFill>
                  <a:srgbClr val="8A94A0"/>
                </a:solidFill>
                <a:latin typeface="Calibri"/>
              </a:rPr>
              <a:t>At 1.8 average touches Last Touch draws no penalty — Assumption Fit 100.</a:t>
            </a:r>
          </a:p>
        </p:txBody>
      </p:sp>
      <p:sp>
        <p:nvSpPr>
          <p:cNvPr id="9" name="Rounded Rectangle 8"/>
          <p:cNvSpPr/>
          <p:nvPr/>
        </p:nvSpPr>
        <p:spPr>
          <a:xfrm>
            <a:off x="4983480" y="3794760"/>
            <a:ext cx="3218688" cy="225856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3931920"/>
            <a:ext cx="2761488" cy="274320"/>
          </a:xfrm>
          <a:prstGeom prst="rect">
            <a:avLst/>
          </a:prstGeom>
          <a:noFill/>
        </p:spPr>
        <p:txBody>
          <a:bodyPr wrap="square" lIns="0" rIns="0" tIns="0" bIns="0">
            <a:spAutoFit/>
          </a:bodyPr>
          <a:lstStyle/>
          <a:p>
            <a:pPr algn="l"/>
            <a:r>
              <a:rPr sz="1400" b="1">
                <a:solidFill>
                  <a:srgbClr val="7FB2E5"/>
                </a:solidFill>
                <a:latin typeface="Cambria"/>
              </a:rPr>
              <a:t>Each model has an enemy</a:t>
            </a:r>
          </a:p>
        </p:txBody>
      </p:sp>
      <p:sp>
        <p:nvSpPr>
          <p:cNvPr id="11" name="TextBox 10"/>
          <p:cNvSpPr txBox="1"/>
          <p:nvPr/>
        </p:nvSpPr>
        <p:spPr>
          <a:xfrm>
            <a:off x="5212080" y="4251960"/>
            <a:ext cx="2761488" cy="1618488"/>
          </a:xfrm>
          <a:prstGeom prst="rect">
            <a:avLst/>
          </a:prstGeom>
          <a:noFill/>
        </p:spPr>
        <p:txBody>
          <a:bodyPr wrap="square" lIns="0" rIns="0" tIns="0" bIns="0">
            <a:spAutoFit/>
          </a:bodyPr>
          <a:lstStyle/>
          <a:p>
            <a:pPr algn="l">
              <a:spcAft>
                <a:spcPts val="500"/>
              </a:spcAft>
            </a:pPr>
            <a:r>
              <a:rPr sz="1150" b="0">
                <a:solidFill>
                  <a:srgbClr val="E8EDF3"/>
                </a:solidFill>
                <a:latin typeface="Calibri"/>
              </a:rPr>
              <a:t>The ladder differs by model. Last Touch is punished by long journeys with real pre-close work.</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First Touch is punished by long elapsed time, and again if journeys are so short that first and last are the same touch.</a:t>
            </a:r>
          </a:p>
        </p:txBody>
      </p:sp>
      <p:sp>
        <p:nvSpPr>
          <p:cNvPr id="12" name="Rounded Rectangle 11"/>
          <p:cNvSpPr/>
          <p:nvPr/>
        </p:nvSpPr>
        <p:spPr>
          <a:xfrm>
            <a:off x="8421624" y="3794760"/>
            <a:ext cx="3218688" cy="225856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0224" y="3931920"/>
            <a:ext cx="2761488" cy="274320"/>
          </a:xfrm>
          <a:prstGeom prst="rect">
            <a:avLst/>
          </a:prstGeom>
          <a:noFill/>
        </p:spPr>
        <p:txBody>
          <a:bodyPr wrap="square" lIns="0" rIns="0" tIns="0" bIns="0">
            <a:spAutoFit/>
          </a:bodyPr>
          <a:lstStyle/>
          <a:p>
            <a:pPr algn="l"/>
            <a:r>
              <a:rPr sz="1400" b="1">
                <a:solidFill>
                  <a:srgbClr val="7FB2E5"/>
                </a:solidFill>
                <a:latin typeface="Cambria"/>
              </a:rPr>
              <a:t>Why 1.8 matters</a:t>
            </a:r>
          </a:p>
        </p:txBody>
      </p:sp>
      <p:sp>
        <p:nvSpPr>
          <p:cNvPr id="14" name="TextBox 13"/>
          <p:cNvSpPr txBox="1"/>
          <p:nvPr/>
        </p:nvSpPr>
        <p:spPr>
          <a:xfrm>
            <a:off x="8650224" y="4251960"/>
            <a:ext cx="2761488" cy="1618488"/>
          </a:xfrm>
          <a:prstGeom prst="rect">
            <a:avLst/>
          </a:prstGeom>
          <a:noFill/>
        </p:spPr>
        <p:txBody>
          <a:bodyPr wrap="square" lIns="0" rIns="0" tIns="0" bIns="0">
            <a:spAutoFit/>
          </a:bodyPr>
          <a:lstStyle/>
          <a:p>
            <a:pPr algn="l">
              <a:spcAft>
                <a:spcPts val="500"/>
              </a:spcAft>
            </a:pPr>
            <a:r>
              <a:rPr sz="1150" b="0">
                <a:solidFill>
                  <a:srgbClr val="E8EDF3"/>
                </a:solidFill>
                <a:latin typeface="Calibri"/>
              </a:rPr>
              <a:t>The portfolio averages 1.8 touches per converting journey against an ideal range of 1.0 to 1.5.</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Short paths are why single-touch models score well here. On a portfolio with six-touch journeys the same models would collapse.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3 · Model Bias Profile</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Five fixed dimensions declaring what the chosen rule systematically over-weights</a:t>
            </a:r>
          </a:p>
        </p:txBody>
      </p:sp>
      <p:pic>
        <p:nvPicPr>
          <p:cNvPr id="4" name="Picture 3" descr="p1_bias_profile.png"/>
          <p:cNvPicPr>
            <a:picLocks noChangeAspect="1"/>
          </p:cNvPicPr>
          <p:nvPr/>
        </p:nvPicPr>
        <p:blipFill>
          <a:blip r:embed="rId2"/>
          <a:stretch>
            <a:fillRect/>
          </a:stretch>
        </p:blipFill>
        <p:spPr>
          <a:xfrm>
            <a:off x="1807083" y="1325880"/>
            <a:ext cx="8574786" cy="1417320"/>
          </a:xfrm>
          <a:prstGeom prst="rect">
            <a:avLst/>
          </a:prstGeom>
        </p:spPr>
      </p:pic>
      <p:sp>
        <p:nvSpPr>
          <p:cNvPr id="5" name="Rounded Rectangle 4"/>
          <p:cNvSpPr/>
          <p:nvPr/>
        </p:nvSpPr>
        <p:spPr>
          <a:xfrm>
            <a:off x="548640" y="2971800"/>
            <a:ext cx="5541264" cy="308152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099816"/>
            <a:ext cx="5084064" cy="256032"/>
          </a:xfrm>
          <a:prstGeom prst="rect">
            <a:avLst/>
          </a:prstGeom>
          <a:noFill/>
        </p:spPr>
        <p:txBody>
          <a:bodyPr wrap="square" lIns="0" rIns="0" tIns="0" bIns="0">
            <a:spAutoFit/>
          </a:bodyPr>
          <a:lstStyle/>
          <a:p>
            <a:pPr algn="l"/>
            <a:r>
              <a:rPr sz="1000" b="1">
                <a:solidFill>
                  <a:srgbClr val="D4AF37"/>
                </a:solidFill>
                <a:latin typeface="Calibri"/>
              </a:rPr>
              <a:t>BIAS — CLOSING, BY MODEL</a:t>
            </a:r>
          </a:p>
        </p:txBody>
      </p:sp>
      <p:sp>
        <p:nvSpPr>
          <p:cNvPr id="7" name="TextBox 6"/>
          <p:cNvSpPr txBox="1"/>
          <p:nvPr/>
        </p:nvSpPr>
        <p:spPr>
          <a:xfrm>
            <a:off x="777240" y="3392424"/>
            <a:ext cx="5084064" cy="2258568"/>
          </a:xfrm>
          <a:prstGeom prst="rect">
            <a:avLst/>
          </a:prstGeom>
          <a:noFill/>
        </p:spPr>
        <p:txBody>
          <a:bodyPr wrap="square" lIns="0" rIns="0" tIns="0" bIns="0">
            <a:spAutoFit/>
          </a:bodyPr>
          <a:lstStyle/>
          <a:p>
            <a:pPr algn="l">
              <a:spcAft>
                <a:spcPts val="100"/>
              </a:spcAft>
            </a:pPr>
            <a:r>
              <a:rPr sz="1050" b="0">
                <a:solidFill>
                  <a:srgbClr val="BFD2E4"/>
                </a:solidFill>
                <a:latin typeface="Consolas"/>
              </a:rPr>
              <a:t>First Touch      0</a:t>
            </a:r>
          </a:p>
          <a:p>
            <a:pPr algn="l">
              <a:spcAft>
                <a:spcPts val="100"/>
              </a:spcAft>
            </a:pPr>
            <a:r>
              <a:rPr sz="1050" b="0">
                <a:solidFill>
                  <a:srgbClr val="BFD2E4"/>
                </a:solidFill>
                <a:latin typeface="Consolas"/>
              </a:rPr>
              <a:t>W Shape         30</a:t>
            </a:r>
          </a:p>
          <a:p>
            <a:pPr algn="l">
              <a:spcAft>
                <a:spcPts val="100"/>
              </a:spcAft>
            </a:pPr>
            <a:r>
              <a:rPr sz="1050" b="0">
                <a:solidFill>
                  <a:srgbClr val="BFD2E4"/>
                </a:solidFill>
                <a:latin typeface="Consolas"/>
              </a:rPr>
              <a:t>Linear          33</a:t>
            </a:r>
          </a:p>
          <a:p>
            <a:pPr algn="l">
              <a:spcAft>
                <a:spcPts val="100"/>
              </a:spcAft>
            </a:pPr>
            <a:r>
              <a:rPr sz="1050" b="0">
                <a:solidFill>
                  <a:srgbClr val="BFD2E4"/>
                </a:solidFill>
                <a:latin typeface="Consolas"/>
              </a:rPr>
              <a:t>U Shape         40</a:t>
            </a:r>
          </a:p>
          <a:p>
            <a:pPr algn="l">
              <a:spcAft>
                <a:spcPts val="100"/>
              </a:spcAft>
            </a:pPr>
            <a:r>
              <a:rPr sz="1050" b="0">
                <a:solidFill>
                  <a:srgbClr val="BFD2E4"/>
                </a:solidFill>
                <a:latin typeface="Consolas"/>
              </a:rPr>
              <a:t>Time Decay      50</a:t>
            </a:r>
          </a:p>
          <a:p>
            <a:pPr algn="l">
              <a:spcAft>
                <a:spcPts val="100"/>
              </a:spcAft>
            </a:pPr>
            <a:r>
              <a:rPr sz="1050" b="0">
                <a:solidFill>
                  <a:srgbClr val="BFD2E4"/>
                </a:solidFill>
                <a:latin typeface="Consolas"/>
              </a:rPr>
              <a:t>Last Touch     100</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Five dimensions scored this way: Awareness,</a:t>
            </a:r>
          </a:p>
          <a:p>
            <a:pPr algn="l">
              <a:spcAft>
                <a:spcPts val="100"/>
              </a:spcAft>
            </a:pPr>
            <a:r>
              <a:rPr sz="1050" b="0">
                <a:solidFill>
                  <a:srgbClr val="BFD2E4"/>
                </a:solidFill>
                <a:latin typeface="Consolas"/>
              </a:rPr>
              <a:t>Closing, Journey Depth, Multi-Touch, Recency.</a:t>
            </a:r>
          </a:p>
        </p:txBody>
      </p:sp>
      <p:sp>
        <p:nvSpPr>
          <p:cNvPr id="8" name="TextBox 7"/>
          <p:cNvSpPr txBox="1"/>
          <p:nvPr/>
        </p:nvSpPr>
        <p:spPr>
          <a:xfrm>
            <a:off x="777240" y="5724144"/>
            <a:ext cx="5084064" cy="256032"/>
          </a:xfrm>
          <a:prstGeom prst="rect">
            <a:avLst/>
          </a:prstGeom>
          <a:noFill/>
        </p:spPr>
        <p:txBody>
          <a:bodyPr wrap="square" lIns="0" rIns="0" tIns="0" bIns="0">
            <a:spAutoFit/>
          </a:bodyPr>
          <a:lstStyle/>
          <a:p>
            <a:pPr algn="l"/>
            <a:r>
              <a:rPr sz="950" b="0">
                <a:solidFill>
                  <a:srgbClr val="8A94A0"/>
                </a:solidFill>
                <a:latin typeface="Calibri"/>
              </a:rPr>
              <a:t>Fixed constants — properties of the model, not of the data.</a:t>
            </a:r>
          </a:p>
        </p:txBody>
      </p:sp>
      <p:sp>
        <p:nvSpPr>
          <p:cNvPr id="9" name="Rounded Rectangle 8"/>
          <p:cNvSpPr/>
          <p:nvPr/>
        </p:nvSpPr>
        <p:spPr>
          <a:xfrm>
            <a:off x="6309360" y="2971800"/>
            <a:ext cx="5330952" cy="308152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3108960"/>
            <a:ext cx="4873752" cy="274320"/>
          </a:xfrm>
          <a:prstGeom prst="rect">
            <a:avLst/>
          </a:prstGeom>
          <a:noFill/>
        </p:spPr>
        <p:txBody>
          <a:bodyPr wrap="square" lIns="0" rIns="0" tIns="0" bIns="0">
            <a:spAutoFit/>
          </a:bodyPr>
          <a:lstStyle/>
          <a:p>
            <a:pPr algn="l"/>
            <a:r>
              <a:rPr sz="1400" b="1">
                <a:solidFill>
                  <a:srgbClr val="7FB2E5"/>
                </a:solidFill>
                <a:latin typeface="Cambria"/>
              </a:rPr>
              <a:t>Why declare bias at all</a:t>
            </a:r>
          </a:p>
        </p:txBody>
      </p:sp>
      <p:sp>
        <p:nvSpPr>
          <p:cNvPr id="11" name="TextBox 10"/>
          <p:cNvSpPr txBox="1"/>
          <p:nvPr/>
        </p:nvSpPr>
        <p:spPr>
          <a:xfrm>
            <a:off x="6537960" y="3429000"/>
            <a:ext cx="4873752" cy="2441448"/>
          </a:xfrm>
          <a:prstGeom prst="rect">
            <a:avLst/>
          </a:prstGeom>
          <a:noFill/>
        </p:spPr>
        <p:txBody>
          <a:bodyPr wrap="square" lIns="0" rIns="0" tIns="0" bIns="0">
            <a:spAutoFit/>
          </a:bodyPr>
          <a:lstStyle/>
          <a:p>
            <a:pPr algn="l">
              <a:spcAft>
                <a:spcPts val="500"/>
              </a:spcAft>
            </a:pPr>
            <a:r>
              <a:rPr sz="1150" b="0">
                <a:solidFill>
                  <a:srgbClr val="E8EDF3"/>
                </a:solidFill>
                <a:latin typeface="Calibri"/>
              </a:rPr>
              <a:t>Every attribution model is biased. The dishonest ones simply do not say so.</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Last Touch reads Closing 100 and Recency 100, Awareness 0, Journey Depth 0, Multi-Touch 0. That profile is not a defect to be corrected; it is the model doing exactly what it was chosen to do.</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Stating it up front means a vendor ranking can be challenged on the rule rather than on the arithmetic.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4 · What Each Model Reports</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The same journeys under six lenses, every difference measured against Linear</a:t>
            </a:r>
          </a:p>
        </p:txBody>
      </p:sp>
      <p:pic>
        <p:nvPicPr>
          <p:cNvPr id="4" name="Picture 3" descr="p1_model_reports.png"/>
          <p:cNvPicPr>
            <a:picLocks noChangeAspect="1"/>
          </p:cNvPicPr>
          <p:nvPr/>
        </p:nvPicPr>
        <p:blipFill>
          <a:blip r:embed="rId2"/>
          <a:stretch>
            <a:fillRect/>
          </a:stretch>
        </p:blipFill>
        <p:spPr>
          <a:xfrm>
            <a:off x="548640" y="1588053"/>
            <a:ext cx="5760720" cy="4175670"/>
          </a:xfrm>
          <a:prstGeom prst="rect">
            <a:avLst/>
          </a:prstGeom>
        </p:spPr>
      </p:pic>
      <p:sp>
        <p:nvSpPr>
          <p:cNvPr id="5" name="Rounded Rectangle 4"/>
          <p:cNvSpPr/>
          <p:nvPr/>
        </p:nvSpPr>
        <p:spPr>
          <a:xfrm>
            <a:off x="6492240" y="1298448"/>
            <a:ext cx="5148072" cy="224028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1426464"/>
            <a:ext cx="4690872" cy="256032"/>
          </a:xfrm>
          <a:prstGeom prst="rect">
            <a:avLst/>
          </a:prstGeom>
          <a:noFill/>
        </p:spPr>
        <p:txBody>
          <a:bodyPr wrap="square" lIns="0" rIns="0" tIns="0" bIns="0">
            <a:spAutoFit/>
          </a:bodyPr>
          <a:lstStyle/>
          <a:p>
            <a:pPr algn="l"/>
            <a:r>
              <a:rPr sz="1000" b="1">
                <a:solidFill>
                  <a:srgbClr val="D4AF37"/>
                </a:solidFill>
                <a:latin typeface="Calibri"/>
              </a:rPr>
              <a:t>CREDITED TOUCHES — THE SPLIT</a:t>
            </a:r>
          </a:p>
        </p:txBody>
      </p:sp>
      <p:sp>
        <p:nvSpPr>
          <p:cNvPr id="7" name="TextBox 6"/>
          <p:cNvSpPr txBox="1"/>
          <p:nvPr/>
        </p:nvSpPr>
        <p:spPr>
          <a:xfrm>
            <a:off x="6720840" y="1719072"/>
            <a:ext cx="4690872" cy="1417320"/>
          </a:xfrm>
          <a:prstGeom prst="rect">
            <a:avLst/>
          </a:prstGeom>
          <a:noFill/>
        </p:spPr>
        <p:txBody>
          <a:bodyPr wrap="square" lIns="0" rIns="0" tIns="0" bIns="0">
            <a:spAutoFit/>
          </a:bodyPr>
          <a:lstStyle/>
          <a:p>
            <a:pPr algn="l">
              <a:spcAft>
                <a:spcPts val="100"/>
              </a:spcAft>
            </a:pPr>
            <a:r>
              <a:rPr sz="1050" b="0">
                <a:solidFill>
                  <a:srgbClr val="BFD2E4"/>
                </a:solidFill>
                <a:latin typeface="Consolas"/>
              </a:rPr>
              <a:t>Linear        18.1K</a:t>
            </a:r>
          </a:p>
          <a:p>
            <a:pPr algn="l">
              <a:spcAft>
                <a:spcPts val="100"/>
              </a:spcAft>
            </a:pPr>
            <a:r>
              <a:rPr sz="1050" b="0">
                <a:solidFill>
                  <a:srgbClr val="BFD2E4"/>
                </a:solidFill>
                <a:latin typeface="Consolas"/>
              </a:rPr>
              <a:t>Time Decay    18.1K</a:t>
            </a:r>
          </a:p>
          <a:p>
            <a:pPr algn="l">
              <a:spcAft>
                <a:spcPts val="100"/>
              </a:spcAft>
            </a:pPr>
            <a:r>
              <a:rPr sz="1050" b="0">
                <a:solidFill>
                  <a:srgbClr val="BFD2E4"/>
                </a:solidFill>
                <a:latin typeface="Consolas"/>
              </a:rPr>
              <a:t>U Shape       18.1K</a:t>
            </a:r>
          </a:p>
          <a:p>
            <a:pPr algn="l">
              <a:spcAft>
                <a:spcPts val="100"/>
              </a:spcAft>
            </a:pPr>
            <a:r>
              <a:rPr sz="1050" b="0">
                <a:solidFill>
                  <a:srgbClr val="BFD2E4"/>
                </a:solidFill>
                <a:latin typeface="Consolas"/>
              </a:rPr>
              <a:t>W Shape       18.1K</a:t>
            </a:r>
          </a:p>
          <a:p>
            <a:pPr algn="l">
              <a:spcAft>
                <a:spcPts val="100"/>
              </a:spcAft>
            </a:pPr>
            <a:r>
              <a:rPr sz="1050" b="0">
                <a:solidFill>
                  <a:srgbClr val="BFD2E4"/>
                </a:solidFill>
                <a:latin typeface="Consolas"/>
              </a:rPr>
              <a:t>First Touch    9.8K</a:t>
            </a:r>
          </a:p>
          <a:p>
            <a:pPr algn="l">
              <a:spcAft>
                <a:spcPts val="100"/>
              </a:spcAft>
            </a:pPr>
            <a:r>
              <a:rPr sz="1050" b="0">
                <a:solidFill>
                  <a:srgbClr val="BFD2E4"/>
                </a:solidFill>
                <a:latin typeface="Consolas"/>
              </a:rPr>
              <a:t>Last Touch     9.9K</a:t>
            </a:r>
          </a:p>
        </p:txBody>
      </p:sp>
      <p:sp>
        <p:nvSpPr>
          <p:cNvPr id="8" name="TextBox 7"/>
          <p:cNvSpPr txBox="1"/>
          <p:nvPr/>
        </p:nvSpPr>
        <p:spPr>
          <a:xfrm>
            <a:off x="6720840" y="3209544"/>
            <a:ext cx="4690872" cy="256032"/>
          </a:xfrm>
          <a:prstGeom prst="rect">
            <a:avLst/>
          </a:prstGeom>
          <a:noFill/>
        </p:spPr>
        <p:txBody>
          <a:bodyPr wrap="square" lIns="0" rIns="0" tIns="0" bIns="0">
            <a:spAutoFit/>
          </a:bodyPr>
          <a:lstStyle/>
          <a:p>
            <a:pPr algn="l"/>
            <a:r>
              <a:rPr sz="950" b="0">
                <a:solidFill>
                  <a:srgbClr val="8A94A0"/>
                </a:solidFill>
                <a:latin typeface="Calibri"/>
              </a:rPr>
              <a:t>Single-touch models credit one touch per journey; multi-touch models credit them all.</a:t>
            </a:r>
          </a:p>
        </p:txBody>
      </p:sp>
      <p:sp>
        <p:nvSpPr>
          <p:cNvPr id="9" name="Rounded Rectangle 8"/>
          <p:cNvSpPr/>
          <p:nvPr/>
        </p:nvSpPr>
        <p:spPr>
          <a:xfrm>
            <a:off x="6492240" y="3703320"/>
            <a:ext cx="5148072" cy="235000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3840480"/>
            <a:ext cx="4690872" cy="274320"/>
          </a:xfrm>
          <a:prstGeom prst="rect">
            <a:avLst/>
          </a:prstGeom>
          <a:noFill/>
        </p:spPr>
        <p:txBody>
          <a:bodyPr wrap="square" lIns="0" rIns="0" tIns="0" bIns="0">
            <a:spAutoFit/>
          </a:bodyPr>
          <a:lstStyle/>
          <a:p>
            <a:pPr algn="l"/>
            <a:r>
              <a:rPr sz="1400" b="1">
                <a:solidFill>
                  <a:srgbClr val="7FB2E5"/>
                </a:solidFill>
                <a:latin typeface="Cambria"/>
              </a:rPr>
              <a:t>The number that is not moving</a:t>
            </a:r>
          </a:p>
        </p:txBody>
      </p:sp>
      <p:sp>
        <p:nvSpPr>
          <p:cNvPr id="11" name="TextBox 10"/>
          <p:cNvSpPr txBox="1"/>
          <p:nvPr/>
        </p:nvSpPr>
        <p:spPr>
          <a:xfrm>
            <a:off x="6720840" y="4160520"/>
            <a:ext cx="4690872" cy="1709928"/>
          </a:xfrm>
          <a:prstGeom prst="rect">
            <a:avLst/>
          </a:prstGeom>
          <a:noFill/>
        </p:spPr>
        <p:txBody>
          <a:bodyPr wrap="square" lIns="0" rIns="0" tIns="0" bIns="0">
            <a:spAutoFit/>
          </a:bodyPr>
          <a:lstStyle/>
          <a:p>
            <a:pPr algn="l">
              <a:spcAft>
                <a:spcPts val="500"/>
              </a:spcAft>
            </a:pPr>
            <a:r>
              <a:rPr sz="1150" b="0">
                <a:solidFill>
                  <a:srgbClr val="E8EDF3"/>
                </a:solidFill>
                <a:latin typeface="Calibri"/>
              </a:rPr>
              <a:t>Lease value lands between $176.0M and $180.8M across all six models — a spread under 3%.</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Attribution does not change how many leases were signed or what they were worth. It changes only who gets credited for them.</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The choice is therefore a budget-allocation decision, not a measurement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5 · How Each Model Scores Your Data</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Four sub-criteria, two composite lenses, one Overall Fit — all of it fixed arithmetic</a:t>
            </a:r>
          </a:p>
        </p:txBody>
      </p:sp>
      <p:pic>
        <p:nvPicPr>
          <p:cNvPr id="4" name="Picture 3" descr="p1_model_scores.png"/>
          <p:cNvPicPr>
            <a:picLocks noChangeAspect="1"/>
          </p:cNvPicPr>
          <p:nvPr/>
        </p:nvPicPr>
        <p:blipFill>
          <a:blip r:embed="rId2"/>
          <a:stretch>
            <a:fillRect/>
          </a:stretch>
        </p:blipFill>
        <p:spPr>
          <a:xfrm>
            <a:off x="548640" y="1630895"/>
            <a:ext cx="5074920" cy="4089985"/>
          </a:xfrm>
          <a:prstGeom prst="rect">
            <a:avLst/>
          </a:prstGeom>
        </p:spPr>
      </p:pic>
      <p:sp>
        <p:nvSpPr>
          <p:cNvPr id="5" name="Rounded Rectangle 4"/>
          <p:cNvSpPr/>
          <p:nvPr/>
        </p:nvSpPr>
        <p:spPr>
          <a:xfrm>
            <a:off x="5852160" y="1298448"/>
            <a:ext cx="5788152" cy="248716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80760" y="1426464"/>
            <a:ext cx="5330952" cy="256032"/>
          </a:xfrm>
          <a:prstGeom prst="rect">
            <a:avLst/>
          </a:prstGeom>
          <a:noFill/>
        </p:spPr>
        <p:txBody>
          <a:bodyPr wrap="square" lIns="0" rIns="0" tIns="0" bIns="0">
            <a:spAutoFit/>
          </a:bodyPr>
          <a:lstStyle/>
          <a:p>
            <a:pPr algn="l"/>
            <a:r>
              <a:rPr sz="1000" b="1">
                <a:solidFill>
                  <a:srgbClr val="D4AF37"/>
                </a:solidFill>
                <a:latin typeface="Calibri"/>
              </a:rPr>
              <a:t>THE TWO LENSES</a:t>
            </a:r>
          </a:p>
        </p:txBody>
      </p:sp>
      <p:sp>
        <p:nvSpPr>
          <p:cNvPr id="7" name="TextBox 6"/>
          <p:cNvSpPr txBox="1"/>
          <p:nvPr/>
        </p:nvSpPr>
        <p:spPr>
          <a:xfrm>
            <a:off x="6080760" y="1719072"/>
            <a:ext cx="5330952" cy="1664208"/>
          </a:xfrm>
          <a:prstGeom prst="rect">
            <a:avLst/>
          </a:prstGeom>
          <a:noFill/>
        </p:spPr>
        <p:txBody>
          <a:bodyPr wrap="square" lIns="0" rIns="0" tIns="0" bIns="0">
            <a:spAutoFit/>
          </a:bodyPr>
          <a:lstStyle/>
          <a:p>
            <a:pPr algn="l">
              <a:spcAft>
                <a:spcPts val="100"/>
              </a:spcAft>
            </a:pPr>
            <a:r>
              <a:rPr sz="1050" b="0">
                <a:solidFill>
                  <a:srgbClr val="BFD2E4"/>
                </a:solidFill>
                <a:latin typeface="Consolas"/>
              </a:rPr>
              <a:t>Behavioral Fit    = 0.40 × Assumption Fit</a:t>
            </a:r>
          </a:p>
          <a:p>
            <a:pPr algn="l">
              <a:spcAft>
                <a:spcPts val="100"/>
              </a:spcAft>
            </a:pPr>
            <a:r>
              <a:rPr sz="1050" b="0">
                <a:solidFill>
                  <a:srgbClr val="BFD2E4"/>
                </a:solidFill>
                <a:latin typeface="Consolas"/>
              </a:rPr>
              <a:t>                  + 0.30 × Journey Coverage</a:t>
            </a:r>
          </a:p>
          <a:p>
            <a:pPr algn="l">
              <a:spcAft>
                <a:spcPts val="100"/>
              </a:spcAft>
            </a:pPr>
            <a:r>
              <a:rPr sz="1050" b="0">
                <a:solidFill>
                  <a:srgbClr val="BFD2E4"/>
                </a:solidFill>
                <a:latin typeface="Consolas"/>
              </a:rPr>
              <a:t>                  + 0.30 × Decision Clarity</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Operational Trust = 0.25 × Assumption Fit</a:t>
            </a:r>
          </a:p>
          <a:p>
            <a:pPr algn="l">
              <a:spcAft>
                <a:spcPts val="100"/>
              </a:spcAft>
            </a:pPr>
            <a:r>
              <a:rPr sz="1050" b="0">
                <a:solidFill>
                  <a:srgbClr val="BFD2E4"/>
                </a:solidFill>
                <a:latin typeface="Consolas"/>
              </a:rPr>
              <a:t>                  + 0.20 × Journey Coverage</a:t>
            </a:r>
          </a:p>
          <a:p>
            <a:pPr algn="l">
              <a:spcAft>
                <a:spcPts val="100"/>
              </a:spcAft>
            </a:pPr>
            <a:r>
              <a:rPr sz="1050" b="0">
                <a:solidFill>
                  <a:srgbClr val="BFD2E4"/>
                </a:solidFill>
                <a:latin typeface="Consolas"/>
              </a:rPr>
              <a:t>                  + 0.20 × Decision Clarity</a:t>
            </a:r>
          </a:p>
          <a:p>
            <a:pPr algn="l">
              <a:spcAft>
                <a:spcPts val="100"/>
              </a:spcAft>
            </a:pPr>
            <a:r>
              <a:rPr sz="1050" b="0">
                <a:solidFill>
                  <a:srgbClr val="BFD2E4"/>
                </a:solidFill>
                <a:latin typeface="Consolas"/>
              </a:rPr>
              <a:t>                  + 0.35 × Robustness</a:t>
            </a:r>
          </a:p>
        </p:txBody>
      </p:sp>
      <p:sp>
        <p:nvSpPr>
          <p:cNvPr id="8" name="TextBox 7"/>
          <p:cNvSpPr txBox="1"/>
          <p:nvPr/>
        </p:nvSpPr>
        <p:spPr>
          <a:xfrm>
            <a:off x="6080760" y="3456432"/>
            <a:ext cx="5330952" cy="256032"/>
          </a:xfrm>
          <a:prstGeom prst="rect">
            <a:avLst/>
          </a:prstGeom>
          <a:noFill/>
        </p:spPr>
        <p:txBody>
          <a:bodyPr wrap="square" lIns="0" rIns="0" tIns="0" bIns="0">
            <a:spAutoFit/>
          </a:bodyPr>
          <a:lstStyle/>
          <a:p>
            <a:pPr algn="l"/>
            <a:r>
              <a:rPr sz="950" b="0">
                <a:solidFill>
                  <a:srgbClr val="8A94A0"/>
                </a:solidFill>
                <a:latin typeface="Calibri"/>
              </a:rPr>
              <a:t>Robustness enters Trust only — stability is an operational question, not a behavioural one.</a:t>
            </a:r>
          </a:p>
        </p:txBody>
      </p:sp>
      <p:sp>
        <p:nvSpPr>
          <p:cNvPr id="9" name="Rounded Rectangle 8"/>
          <p:cNvSpPr/>
          <p:nvPr/>
        </p:nvSpPr>
        <p:spPr>
          <a:xfrm>
            <a:off x="5852160" y="3950208"/>
            <a:ext cx="5788152" cy="210312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4078224"/>
            <a:ext cx="5330952" cy="256032"/>
          </a:xfrm>
          <a:prstGeom prst="rect">
            <a:avLst/>
          </a:prstGeom>
          <a:noFill/>
        </p:spPr>
        <p:txBody>
          <a:bodyPr wrap="square" lIns="0" rIns="0" tIns="0" bIns="0">
            <a:spAutoFit/>
          </a:bodyPr>
          <a:lstStyle/>
          <a:p>
            <a:pPr algn="l"/>
            <a:r>
              <a:rPr sz="1000" b="1">
                <a:solidFill>
                  <a:srgbClr val="D4AF37"/>
                </a:solidFill>
                <a:latin typeface="Calibri"/>
              </a:rPr>
              <a:t>WORKED ON FIRST TOUCH</a:t>
            </a:r>
          </a:p>
        </p:txBody>
      </p:sp>
      <p:sp>
        <p:nvSpPr>
          <p:cNvPr id="11" name="TextBox 10"/>
          <p:cNvSpPr txBox="1"/>
          <p:nvPr/>
        </p:nvSpPr>
        <p:spPr>
          <a:xfrm>
            <a:off x="6080760" y="4370832"/>
            <a:ext cx="5330952" cy="1280160"/>
          </a:xfrm>
          <a:prstGeom prst="rect">
            <a:avLst/>
          </a:prstGeom>
          <a:noFill/>
        </p:spPr>
        <p:txBody>
          <a:bodyPr wrap="square" lIns="0" rIns="0" tIns="0" bIns="0">
            <a:spAutoFit/>
          </a:bodyPr>
          <a:lstStyle/>
          <a:p>
            <a:pPr algn="l">
              <a:spcAft>
                <a:spcPts val="100"/>
              </a:spcAft>
            </a:pPr>
            <a:r>
              <a:rPr sz="1050" b="0">
                <a:solidFill>
                  <a:srgbClr val="BFD2E4"/>
                </a:solidFill>
                <a:latin typeface="Consolas"/>
              </a:rPr>
              <a:t>A 100   C 100   D 80   R 85</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BF = 0.40(100) + 0.30(100) + 0.30(80)  = 94.00</a:t>
            </a:r>
          </a:p>
          <a:p>
            <a:pPr algn="l">
              <a:spcAft>
                <a:spcPts val="100"/>
              </a:spcAft>
            </a:pPr>
            <a:r>
              <a:rPr sz="1050" b="0">
                <a:solidFill>
                  <a:srgbClr val="BFD2E4"/>
                </a:solidFill>
                <a:latin typeface="Consolas"/>
              </a:rPr>
              <a:t>OT = 0.25(100) + 0.20(100) + 0.20(80)</a:t>
            </a:r>
          </a:p>
          <a:p>
            <a:pPr algn="l">
              <a:spcAft>
                <a:spcPts val="100"/>
              </a:spcAft>
            </a:pPr>
            <a:r>
              <a:rPr sz="1050" b="0">
                <a:solidFill>
                  <a:srgbClr val="BFD2E4"/>
                </a:solidFill>
                <a:latin typeface="Consolas"/>
              </a:rPr>
              <a:t>                        + 0.35(85)     = 90.75</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Overall = 0.40(94.00) + 0.60(90.75)    = 92.05</a:t>
            </a:r>
          </a:p>
        </p:txBody>
      </p:sp>
      <p:sp>
        <p:nvSpPr>
          <p:cNvPr id="12" name="TextBox 11"/>
          <p:cNvSpPr txBox="1"/>
          <p:nvPr/>
        </p:nvSpPr>
        <p:spPr>
          <a:xfrm>
            <a:off x="6080760" y="5724144"/>
            <a:ext cx="5330952" cy="256032"/>
          </a:xfrm>
          <a:prstGeom prst="rect">
            <a:avLst/>
          </a:prstGeom>
          <a:noFill/>
        </p:spPr>
        <p:txBody>
          <a:bodyPr wrap="square" lIns="0" rIns="0" tIns="0" bIns="0">
            <a:spAutoFit/>
          </a:bodyPr>
          <a:lstStyle/>
          <a:p>
            <a:pPr algn="l"/>
            <a:r>
              <a:rPr sz="950" b="0">
                <a:solidFill>
                  <a:srgbClr val="8A94A0"/>
                </a:solidFill>
                <a:latin typeface="Calibri"/>
              </a:rPr>
              <a:t>Trust outweighs Fit 60/40 — a defensible answer beats a flattering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6 · Business Impact</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What staying on the selected model costs, stated in leases and dollars</a:t>
            </a:r>
          </a:p>
        </p:txBody>
      </p:sp>
      <p:pic>
        <p:nvPicPr>
          <p:cNvPr id="4" name="Picture 3" descr="p1_business_impact.png"/>
          <p:cNvPicPr>
            <a:picLocks noChangeAspect="1"/>
          </p:cNvPicPr>
          <p:nvPr/>
        </p:nvPicPr>
        <p:blipFill>
          <a:blip r:embed="rId2"/>
          <a:stretch>
            <a:fillRect/>
          </a:stretch>
        </p:blipFill>
        <p:spPr>
          <a:xfrm>
            <a:off x="548640" y="1466376"/>
            <a:ext cx="6903720" cy="4419022"/>
          </a:xfrm>
          <a:prstGeom prst="rect">
            <a:avLst/>
          </a:prstGeom>
        </p:spPr>
      </p:pic>
      <p:sp>
        <p:nvSpPr>
          <p:cNvPr id="5" name="Rounded Rectangle 4"/>
          <p:cNvSpPr/>
          <p:nvPr/>
        </p:nvSpPr>
        <p:spPr>
          <a:xfrm>
            <a:off x="7635240" y="1298448"/>
            <a:ext cx="4005072" cy="224028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1426464"/>
            <a:ext cx="3547872" cy="256032"/>
          </a:xfrm>
          <a:prstGeom prst="rect">
            <a:avLst/>
          </a:prstGeom>
          <a:noFill/>
        </p:spPr>
        <p:txBody>
          <a:bodyPr wrap="square" lIns="0" rIns="0" tIns="0" bIns="0">
            <a:spAutoFit/>
          </a:bodyPr>
          <a:lstStyle/>
          <a:p>
            <a:pPr algn="l"/>
            <a:r>
              <a:rPr sz="1000" b="1">
                <a:solidFill>
                  <a:srgbClr val="D4AF37"/>
                </a:solidFill>
                <a:latin typeface="Calibri"/>
              </a:rPr>
              <a:t>THE FOUR DELTAS</a:t>
            </a:r>
          </a:p>
        </p:txBody>
      </p:sp>
      <p:sp>
        <p:nvSpPr>
          <p:cNvPr id="7" name="TextBox 6"/>
          <p:cNvSpPr txBox="1"/>
          <p:nvPr/>
        </p:nvSpPr>
        <p:spPr>
          <a:xfrm>
            <a:off x="7863840" y="1719072"/>
            <a:ext cx="3547872" cy="1417320"/>
          </a:xfrm>
          <a:prstGeom prst="rect">
            <a:avLst/>
          </a:prstGeom>
          <a:noFill/>
        </p:spPr>
        <p:txBody>
          <a:bodyPr wrap="square" lIns="0" rIns="0" tIns="0" bIns="0">
            <a:spAutoFit/>
          </a:bodyPr>
          <a:lstStyle/>
          <a:p>
            <a:pPr algn="l">
              <a:spcAft>
                <a:spcPts val="100"/>
              </a:spcAft>
            </a:pPr>
            <a:r>
              <a:rPr sz="1050" b="0">
                <a:solidFill>
                  <a:srgbClr val="BFD2E4"/>
                </a:solidFill>
                <a:latin typeface="Consolas"/>
              </a:rPr>
              <a:t>Δ Converts        +50.6%</a:t>
            </a:r>
          </a:p>
          <a:p>
            <a:pPr algn="l">
              <a:spcAft>
                <a:spcPts val="100"/>
              </a:spcAft>
            </a:pPr>
            <a:r>
              <a:rPr sz="1050" b="0">
                <a:solidFill>
                  <a:srgbClr val="BFD2E4"/>
                </a:solidFill>
                <a:latin typeface="Consolas"/>
              </a:rPr>
              <a:t>Δ Lease Value      +$61M</a:t>
            </a:r>
          </a:p>
          <a:p>
            <a:pPr algn="l">
              <a:spcAft>
                <a:spcPts val="100"/>
              </a:spcAft>
            </a:pPr>
            <a:r>
              <a:rPr sz="1050" b="0">
                <a:solidFill>
                  <a:srgbClr val="BFD2E4"/>
                </a:solidFill>
                <a:latin typeface="Consolas"/>
              </a:rPr>
              <a:t>Δ Cost / Conv      -$183</a:t>
            </a:r>
          </a:p>
          <a:p>
            <a:pPr algn="l">
              <a:spcAft>
                <a:spcPts val="100"/>
              </a:spcAft>
            </a:pPr>
            <a:r>
              <a:rPr sz="1050" b="0">
                <a:solidFill>
                  <a:srgbClr val="BFD2E4"/>
                </a:solidFill>
                <a:latin typeface="Consolas"/>
              </a:rPr>
              <a:t>Δ Qualifying        100%</a:t>
            </a:r>
          </a:p>
        </p:txBody>
      </p:sp>
      <p:sp>
        <p:nvSpPr>
          <p:cNvPr id="8" name="TextBox 7"/>
          <p:cNvSpPr txBox="1"/>
          <p:nvPr/>
        </p:nvSpPr>
        <p:spPr>
          <a:xfrm>
            <a:off x="7863840" y="3209544"/>
            <a:ext cx="3547872" cy="256032"/>
          </a:xfrm>
          <a:prstGeom prst="rect">
            <a:avLst/>
          </a:prstGeom>
          <a:noFill/>
        </p:spPr>
        <p:txBody>
          <a:bodyPr wrap="square" lIns="0" rIns="0" tIns="0" bIns="0">
            <a:spAutoFit/>
          </a:bodyPr>
          <a:lstStyle/>
          <a:p>
            <a:pPr algn="l"/>
            <a:r>
              <a:rPr sz="950" b="0">
                <a:solidFill>
                  <a:srgbClr val="8A94A0"/>
                </a:solidFill>
                <a:latin typeface="Calibri"/>
              </a:rPr>
              <a:t>Selected model measured against the recommended one.</a:t>
            </a:r>
          </a:p>
        </p:txBody>
      </p:sp>
      <p:sp>
        <p:nvSpPr>
          <p:cNvPr id="9" name="Rounded Rectangle 8"/>
          <p:cNvSpPr/>
          <p:nvPr/>
        </p:nvSpPr>
        <p:spPr>
          <a:xfrm>
            <a:off x="7635240" y="3703320"/>
            <a:ext cx="4005072" cy="235000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3840480"/>
            <a:ext cx="3547872" cy="274320"/>
          </a:xfrm>
          <a:prstGeom prst="rect">
            <a:avLst/>
          </a:prstGeom>
          <a:noFill/>
        </p:spPr>
        <p:txBody>
          <a:bodyPr wrap="square" lIns="0" rIns="0" tIns="0" bIns="0">
            <a:spAutoFit/>
          </a:bodyPr>
          <a:lstStyle/>
          <a:p>
            <a:pPr algn="l"/>
            <a:r>
              <a:rPr sz="1400" b="1">
                <a:solidFill>
                  <a:srgbClr val="7FB2E5"/>
                </a:solidFill>
                <a:latin typeface="Cambria"/>
              </a:rPr>
              <a:t>Why state it in money</a:t>
            </a:r>
          </a:p>
        </p:txBody>
      </p:sp>
      <p:sp>
        <p:nvSpPr>
          <p:cNvPr id="11" name="TextBox 10"/>
          <p:cNvSpPr txBox="1"/>
          <p:nvPr/>
        </p:nvSpPr>
        <p:spPr>
          <a:xfrm>
            <a:off x="7863840" y="4160520"/>
            <a:ext cx="3547872" cy="1709928"/>
          </a:xfrm>
          <a:prstGeom prst="rect">
            <a:avLst/>
          </a:prstGeom>
          <a:noFill/>
        </p:spPr>
        <p:txBody>
          <a:bodyPr wrap="square" lIns="0" rIns="0" tIns="0" bIns="0">
            <a:spAutoFit/>
          </a:bodyPr>
          <a:lstStyle/>
          <a:p>
            <a:pPr algn="l">
              <a:spcAft>
                <a:spcPts val="500"/>
              </a:spcAft>
            </a:pPr>
            <a:r>
              <a:rPr sz="1150" b="0">
                <a:solidFill>
                  <a:srgbClr val="E8EDF3"/>
                </a:solidFill>
                <a:latin typeface="Calibri"/>
              </a:rPr>
              <a:t>A fit score of 87 against 92 is an abstraction. A $61M difference in attributed lease value is not.</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The section exists to convert a methodological preference into a number a budget owner can argue with.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7 · Recommendation Summary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One model named, by the highest Overall Fit — with no tie-breaking discretion</a:t>
            </a:r>
          </a:p>
        </p:txBody>
      </p:sp>
      <p:pic>
        <p:nvPicPr>
          <p:cNvPr id="4" name="Picture 3" descr="p1_recommendation.png"/>
          <p:cNvPicPr>
            <a:picLocks noChangeAspect="1"/>
          </p:cNvPicPr>
          <p:nvPr/>
        </p:nvPicPr>
        <p:blipFill>
          <a:blip r:embed="rId2"/>
          <a:stretch>
            <a:fillRect/>
          </a:stretch>
        </p:blipFill>
        <p:spPr>
          <a:xfrm>
            <a:off x="709240" y="1298448"/>
            <a:ext cx="3610719" cy="4754880"/>
          </a:xfrm>
          <a:prstGeom prst="rect">
            <a:avLst/>
          </a:prstGeom>
        </p:spPr>
      </p:pic>
      <p:sp>
        <p:nvSpPr>
          <p:cNvPr id="5" name="Rounded Rectangle 4"/>
          <p:cNvSpPr/>
          <p:nvPr/>
        </p:nvSpPr>
        <p:spPr>
          <a:xfrm>
            <a:off x="4709160" y="1298448"/>
            <a:ext cx="6931152" cy="239572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426464"/>
            <a:ext cx="6473952" cy="256032"/>
          </a:xfrm>
          <a:prstGeom prst="rect">
            <a:avLst/>
          </a:prstGeom>
          <a:noFill/>
        </p:spPr>
        <p:txBody>
          <a:bodyPr wrap="square" lIns="0" rIns="0" tIns="0" bIns="0">
            <a:spAutoFit/>
          </a:bodyPr>
          <a:lstStyle/>
          <a:p>
            <a:pPr algn="l"/>
            <a:r>
              <a:rPr sz="1000" b="1">
                <a:solidFill>
                  <a:srgbClr val="D4AF37"/>
                </a:solidFill>
                <a:latin typeface="Calibri"/>
              </a:rPr>
              <a:t>THE SELECTION</a:t>
            </a:r>
          </a:p>
        </p:txBody>
      </p:sp>
      <p:sp>
        <p:nvSpPr>
          <p:cNvPr id="7" name="TextBox 6"/>
          <p:cNvSpPr txBox="1"/>
          <p:nvPr/>
        </p:nvSpPr>
        <p:spPr>
          <a:xfrm>
            <a:off x="4937760" y="1719072"/>
            <a:ext cx="6473952" cy="1572768"/>
          </a:xfrm>
          <a:prstGeom prst="rect">
            <a:avLst/>
          </a:prstGeom>
          <a:noFill/>
        </p:spPr>
        <p:txBody>
          <a:bodyPr wrap="square" lIns="0" rIns="0" tIns="0" bIns="0">
            <a:spAutoFit/>
          </a:bodyPr>
          <a:lstStyle/>
          <a:p>
            <a:pPr algn="l">
              <a:spcAft>
                <a:spcPts val="100"/>
              </a:spcAft>
            </a:pPr>
            <a:r>
              <a:rPr sz="1050" b="0">
                <a:solidFill>
                  <a:srgbClr val="BFD2E4"/>
                </a:solidFill>
                <a:latin typeface="Consolas"/>
              </a:rPr>
              <a:t>Linear        96          First Touch   92</a:t>
            </a:r>
          </a:p>
          <a:p>
            <a:pPr algn="l">
              <a:spcAft>
                <a:spcPts val="100"/>
              </a:spcAft>
            </a:pPr>
            <a:r>
              <a:rPr sz="1050" b="0">
                <a:solidFill>
                  <a:srgbClr val="BFD2E4"/>
                </a:solidFill>
                <a:latin typeface="Consolas"/>
              </a:rPr>
              <a:t>Time Decay    80          Last Touch    87</a:t>
            </a:r>
          </a:p>
          <a:p>
            <a:pPr algn="l">
              <a:spcAft>
                <a:spcPts val="100"/>
              </a:spcAft>
            </a:pPr>
            <a:r>
              <a:rPr sz="1050" b="0">
                <a:solidFill>
                  <a:srgbClr val="BFD2E4"/>
                </a:solidFill>
                <a:latin typeface="Consolas"/>
              </a:rPr>
              <a:t>U Shape       81          W Shape       60</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recommended = TOPN(1, all six Overall Fit scores, DESC)</a:t>
            </a:r>
          </a:p>
        </p:txBody>
      </p:sp>
      <p:sp>
        <p:nvSpPr>
          <p:cNvPr id="8" name="TextBox 7"/>
          <p:cNvSpPr txBox="1"/>
          <p:nvPr/>
        </p:nvSpPr>
        <p:spPr>
          <a:xfrm>
            <a:off x="4937760" y="3364992"/>
            <a:ext cx="6473952" cy="256032"/>
          </a:xfrm>
          <a:prstGeom prst="rect">
            <a:avLst/>
          </a:prstGeom>
          <a:noFill/>
        </p:spPr>
        <p:txBody>
          <a:bodyPr wrap="square" lIns="0" rIns="0" tIns="0" bIns="0">
            <a:spAutoFit/>
          </a:bodyPr>
          <a:lstStyle/>
          <a:p>
            <a:pPr algn="l"/>
            <a:r>
              <a:rPr sz="950" b="0">
                <a:solidFill>
                  <a:srgbClr val="8A94A0"/>
                </a:solidFill>
                <a:latin typeface="Calibri"/>
              </a:rPr>
              <a:t>The highest score wins. No weighting by preference, no manual override.</a:t>
            </a:r>
          </a:p>
        </p:txBody>
      </p:sp>
      <p:sp>
        <p:nvSpPr>
          <p:cNvPr id="9" name="Rounded Rectangle 8"/>
          <p:cNvSpPr/>
          <p:nvPr/>
        </p:nvSpPr>
        <p:spPr>
          <a:xfrm>
            <a:off x="4709160" y="3858768"/>
            <a:ext cx="6931152" cy="219456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3995928"/>
            <a:ext cx="6473952" cy="274320"/>
          </a:xfrm>
          <a:prstGeom prst="rect">
            <a:avLst/>
          </a:prstGeom>
          <a:noFill/>
        </p:spPr>
        <p:txBody>
          <a:bodyPr wrap="square" lIns="0" rIns="0" tIns="0" bIns="0">
            <a:spAutoFit/>
          </a:bodyPr>
          <a:lstStyle/>
          <a:p>
            <a:pPr algn="l"/>
            <a:r>
              <a:rPr sz="1400" b="1">
                <a:solidFill>
                  <a:srgbClr val="7FB2E5"/>
                </a:solidFill>
                <a:latin typeface="Cambria"/>
              </a:rPr>
              <a:t>Where the page stops</a:t>
            </a:r>
          </a:p>
        </p:txBody>
      </p:sp>
      <p:sp>
        <p:nvSpPr>
          <p:cNvPr id="11" name="TextBox 10"/>
          <p:cNvSpPr txBox="1"/>
          <p:nvPr/>
        </p:nvSpPr>
        <p:spPr>
          <a:xfrm>
            <a:off x="4937760" y="4315968"/>
            <a:ext cx="6473952" cy="1554480"/>
          </a:xfrm>
          <a:prstGeom prst="rect">
            <a:avLst/>
          </a:prstGeom>
          <a:noFill/>
        </p:spPr>
        <p:txBody>
          <a:bodyPr wrap="square" lIns="0" rIns="0" tIns="0" bIns="0">
            <a:spAutoFit/>
          </a:bodyPr>
          <a:lstStyle/>
          <a:p>
            <a:pPr algn="l">
              <a:spcAft>
                <a:spcPts val="500"/>
              </a:spcAft>
            </a:pPr>
            <a:r>
              <a:rPr sz="1150" b="0">
                <a:solidFill>
                  <a:srgbClr val="E8EDF3"/>
                </a:solidFill>
                <a:latin typeface="Calibri"/>
              </a:rPr>
              <a:t>It names a model, reports the gap, and prices the difference. It does not switch anything.</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Attribution is a commercial agreement about how vendors get paid as much as it is a measurement choice, so the page hands the operator a defensible position rather than a decision already taken.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The page — Model Impact</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Four sections answering the second question: if you commit to this model, what actually changes?</a:t>
            </a:r>
          </a:p>
        </p:txBody>
      </p:sp>
      <p:pic>
        <p:nvPicPr>
          <p:cNvPr id="4" name="Picture 3" descr="p2_full.png"/>
          <p:cNvPicPr>
            <a:picLocks noChangeAspect="1"/>
          </p:cNvPicPr>
          <p:nvPr/>
        </p:nvPicPr>
        <p:blipFill>
          <a:blip r:embed="rId2"/>
          <a:stretch>
            <a:fillRect/>
          </a:stretch>
        </p:blipFill>
        <p:spPr>
          <a:xfrm>
            <a:off x="5055621" y="1325880"/>
            <a:ext cx="2077709" cy="484631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8 · Model Impact Summary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The operational consequences of the choice, every figure indexed to Linear</a:t>
            </a:r>
          </a:p>
        </p:txBody>
      </p:sp>
      <p:pic>
        <p:nvPicPr>
          <p:cNvPr id="4" name="Picture 3" descr="p2_impact_summary.png"/>
          <p:cNvPicPr>
            <a:picLocks noChangeAspect="1"/>
          </p:cNvPicPr>
          <p:nvPr/>
        </p:nvPicPr>
        <p:blipFill>
          <a:blip r:embed="rId2"/>
          <a:stretch>
            <a:fillRect/>
          </a:stretch>
        </p:blipFill>
        <p:spPr>
          <a:xfrm>
            <a:off x="3525991" y="1298448"/>
            <a:ext cx="5136968" cy="2011680"/>
          </a:xfrm>
          <a:prstGeom prst="rect">
            <a:avLst/>
          </a:prstGeom>
        </p:spPr>
      </p:pic>
      <p:sp>
        <p:nvSpPr>
          <p:cNvPr id="5" name="Rounded Rectangle 4"/>
          <p:cNvSpPr/>
          <p:nvPr/>
        </p:nvSpPr>
        <p:spPr>
          <a:xfrm>
            <a:off x="548640" y="3566160"/>
            <a:ext cx="5541264" cy="248716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694176"/>
            <a:ext cx="5084064" cy="256032"/>
          </a:xfrm>
          <a:prstGeom prst="rect">
            <a:avLst/>
          </a:prstGeom>
          <a:noFill/>
        </p:spPr>
        <p:txBody>
          <a:bodyPr wrap="square" lIns="0" rIns="0" tIns="0" bIns="0">
            <a:spAutoFit/>
          </a:bodyPr>
          <a:lstStyle/>
          <a:p>
            <a:pPr algn="l"/>
            <a:r>
              <a:rPr sz="1000" b="1">
                <a:solidFill>
                  <a:srgbClr val="D4AF37"/>
                </a:solidFill>
                <a:latin typeface="Calibri"/>
              </a:rPr>
              <a:t>WHAT MOVES, AND WHAT DOES NOT</a:t>
            </a:r>
          </a:p>
        </p:txBody>
      </p:sp>
      <p:sp>
        <p:nvSpPr>
          <p:cNvPr id="7" name="TextBox 6"/>
          <p:cNvSpPr txBox="1"/>
          <p:nvPr/>
        </p:nvSpPr>
        <p:spPr>
          <a:xfrm>
            <a:off x="777240" y="3986784"/>
            <a:ext cx="5084064" cy="1664208"/>
          </a:xfrm>
          <a:prstGeom prst="rect">
            <a:avLst/>
          </a:prstGeom>
          <a:noFill/>
        </p:spPr>
        <p:txBody>
          <a:bodyPr wrap="square" lIns="0" rIns="0" tIns="0" bIns="0">
            <a:spAutoFit/>
          </a:bodyPr>
          <a:lstStyle/>
          <a:p>
            <a:pPr algn="l">
              <a:spcAft>
                <a:spcPts val="100"/>
              </a:spcAft>
            </a:pPr>
            <a:r>
              <a:rPr sz="1050" b="0">
                <a:solidFill>
                  <a:srgbClr val="BFD2E4"/>
                </a:solidFill>
                <a:latin typeface="Consolas"/>
              </a:rPr>
              <a:t>Attributed Leases   14.8K    ▲  +0.1%</a:t>
            </a:r>
          </a:p>
          <a:p>
            <a:pPr algn="l">
              <a:spcAft>
                <a:spcPts val="100"/>
              </a:spcAft>
            </a:pPr>
            <a:r>
              <a:rPr sz="1050" b="0">
                <a:solidFill>
                  <a:srgbClr val="BFD2E4"/>
                </a:solidFill>
                <a:latin typeface="Consolas"/>
              </a:rPr>
              <a:t>Lease Value         $269M    ▲  +0.1%</a:t>
            </a:r>
          </a:p>
          <a:p>
            <a:pPr algn="l">
              <a:spcAft>
                <a:spcPts val="100"/>
              </a:spcAft>
            </a:pPr>
            <a:r>
              <a:rPr sz="1050" b="0">
                <a:solidFill>
                  <a:srgbClr val="BFD2E4"/>
                </a:solidFill>
                <a:latin typeface="Consolas"/>
              </a:rPr>
              <a:t>Cost per Conversion  $340    ▼  -0.1%</a:t>
            </a:r>
          </a:p>
          <a:p>
            <a:pPr algn="l">
              <a:spcAft>
                <a:spcPts val="100"/>
              </a:spcAft>
            </a:pPr>
            <a:r>
              <a:rPr sz="1050" b="0">
                <a:solidFill>
                  <a:srgbClr val="BFD2E4"/>
                </a:solidFill>
                <a:latin typeface="Consolas"/>
              </a:rPr>
              <a:t>Model Coverage         76%   ▼ -23.8%</a:t>
            </a:r>
          </a:p>
        </p:txBody>
      </p:sp>
      <p:sp>
        <p:nvSpPr>
          <p:cNvPr id="8" name="TextBox 7"/>
          <p:cNvSpPr txBox="1"/>
          <p:nvPr/>
        </p:nvSpPr>
        <p:spPr>
          <a:xfrm>
            <a:off x="777240" y="5724144"/>
            <a:ext cx="5084064" cy="256032"/>
          </a:xfrm>
          <a:prstGeom prst="rect">
            <a:avLst/>
          </a:prstGeom>
          <a:noFill/>
        </p:spPr>
        <p:txBody>
          <a:bodyPr wrap="square" lIns="0" rIns="0" tIns="0" bIns="0">
            <a:spAutoFit/>
          </a:bodyPr>
          <a:lstStyle/>
          <a:p>
            <a:pPr algn="l"/>
            <a:r>
              <a:rPr sz="950" b="0">
                <a:solidFill>
                  <a:srgbClr val="8A94A0"/>
                </a:solidFill>
                <a:latin typeface="Calibri"/>
              </a:rPr>
              <a:t>Coverage counts the share of converting journeys the model can credit at all.</a:t>
            </a:r>
          </a:p>
        </p:txBody>
      </p:sp>
      <p:sp>
        <p:nvSpPr>
          <p:cNvPr id="9" name="Rounded Rectangle 8"/>
          <p:cNvSpPr/>
          <p:nvPr/>
        </p:nvSpPr>
        <p:spPr>
          <a:xfrm>
            <a:off x="6309360" y="3566160"/>
            <a:ext cx="5330952" cy="248716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3703320"/>
            <a:ext cx="4873752" cy="274320"/>
          </a:xfrm>
          <a:prstGeom prst="rect">
            <a:avLst/>
          </a:prstGeom>
          <a:noFill/>
        </p:spPr>
        <p:txBody>
          <a:bodyPr wrap="square" lIns="0" rIns="0" tIns="0" bIns="0">
            <a:spAutoFit/>
          </a:bodyPr>
          <a:lstStyle/>
          <a:p>
            <a:pPr algn="l"/>
            <a:r>
              <a:rPr sz="1400" b="1">
                <a:solidFill>
                  <a:srgbClr val="7FB2E5"/>
                </a:solidFill>
                <a:latin typeface="Cambria"/>
              </a:rPr>
              <a:t>One number is doing all the work</a:t>
            </a:r>
          </a:p>
        </p:txBody>
      </p:sp>
      <p:sp>
        <p:nvSpPr>
          <p:cNvPr id="11" name="TextBox 10"/>
          <p:cNvSpPr txBox="1"/>
          <p:nvPr/>
        </p:nvSpPr>
        <p:spPr>
          <a:xfrm>
            <a:off x="6537960" y="4023360"/>
            <a:ext cx="4873752" cy="1847088"/>
          </a:xfrm>
          <a:prstGeom prst="rect">
            <a:avLst/>
          </a:prstGeom>
          <a:noFill/>
        </p:spPr>
        <p:txBody>
          <a:bodyPr wrap="square" lIns="0" rIns="0" tIns="0" bIns="0">
            <a:spAutoFit/>
          </a:bodyPr>
          <a:lstStyle/>
          <a:p>
            <a:pPr algn="l">
              <a:spcAft>
                <a:spcPts val="500"/>
              </a:spcAft>
            </a:pPr>
            <a:r>
              <a:rPr sz="1150" b="0">
                <a:solidFill>
                  <a:srgbClr val="E8EDF3"/>
                </a:solidFill>
                <a:latin typeface="Calibri"/>
              </a:rPr>
              <a:t>Three of the four headline figures move by a tenth of a percent. Coverage falls 23.8%.</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That asymmetry is the finding. Switching models barely alters the totals, but it changes which journeys are eligible to be counted — and therefore which vendors can be paid.</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A summary that averaged these four into one health score would have hidden precisely the thing worth knowing.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9 · Vendor Movement</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Two shares plotted against a fair-share line, yielding one posture per vendor</a:t>
            </a:r>
          </a:p>
        </p:txBody>
      </p:sp>
      <p:pic>
        <p:nvPicPr>
          <p:cNvPr id="4" name="Picture 3" descr="p2_efficiency_map.png"/>
          <p:cNvPicPr>
            <a:picLocks noChangeAspect="1"/>
          </p:cNvPicPr>
          <p:nvPr/>
        </p:nvPicPr>
        <p:blipFill>
          <a:blip r:embed="rId2"/>
          <a:stretch>
            <a:fillRect/>
          </a:stretch>
        </p:blipFill>
        <p:spPr>
          <a:xfrm>
            <a:off x="639891" y="1298448"/>
            <a:ext cx="4892417" cy="4754879"/>
          </a:xfrm>
          <a:prstGeom prst="rect">
            <a:avLst/>
          </a:prstGeom>
        </p:spPr>
      </p:pic>
      <p:sp>
        <p:nvSpPr>
          <p:cNvPr id="5" name="Rounded Rectangle 4"/>
          <p:cNvSpPr/>
          <p:nvPr/>
        </p:nvSpPr>
        <p:spPr>
          <a:xfrm>
            <a:off x="5852160" y="1298448"/>
            <a:ext cx="5788152" cy="260604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80760" y="1426464"/>
            <a:ext cx="5330952" cy="256032"/>
          </a:xfrm>
          <a:prstGeom prst="rect">
            <a:avLst/>
          </a:prstGeom>
          <a:noFill/>
        </p:spPr>
        <p:txBody>
          <a:bodyPr wrap="square" lIns="0" rIns="0" tIns="0" bIns="0">
            <a:spAutoFit/>
          </a:bodyPr>
          <a:lstStyle/>
          <a:p>
            <a:pPr algn="l"/>
            <a:r>
              <a:rPr sz="1000" b="1">
                <a:solidFill>
                  <a:srgbClr val="D4AF37"/>
                </a:solidFill>
                <a:latin typeface="Calibri"/>
              </a:rPr>
              <a:t>QUADRANT ASSIGNMENT</a:t>
            </a:r>
          </a:p>
        </p:txBody>
      </p:sp>
      <p:sp>
        <p:nvSpPr>
          <p:cNvPr id="7" name="TextBox 6"/>
          <p:cNvSpPr txBox="1"/>
          <p:nvPr/>
        </p:nvSpPr>
        <p:spPr>
          <a:xfrm>
            <a:off x="6080760" y="1719072"/>
            <a:ext cx="5330952" cy="1783080"/>
          </a:xfrm>
          <a:prstGeom prst="rect">
            <a:avLst/>
          </a:prstGeom>
          <a:noFill/>
        </p:spPr>
        <p:txBody>
          <a:bodyPr wrap="square" lIns="0" rIns="0" tIns="0" bIns="0">
            <a:spAutoFit/>
          </a:bodyPr>
          <a:lstStyle/>
          <a:p>
            <a:pPr algn="l">
              <a:spcAft>
                <a:spcPts val="100"/>
              </a:spcAft>
            </a:pPr>
            <a:r>
              <a:rPr sz="1050" b="0">
                <a:solidFill>
                  <a:srgbClr val="BFD2E4"/>
                </a:solidFill>
                <a:latin typeface="Consolas"/>
              </a:rPr>
              <a:t>conv &gt; fair  and  touch &gt; fair  →  INVEST</a:t>
            </a:r>
          </a:p>
          <a:p>
            <a:pPr algn="l">
              <a:spcAft>
                <a:spcPts val="100"/>
              </a:spcAft>
            </a:pPr>
            <a:r>
              <a:rPr sz="1050" b="0">
                <a:solidFill>
                  <a:srgbClr val="BFD2E4"/>
                </a:solidFill>
                <a:latin typeface="Consolas"/>
              </a:rPr>
              <a:t>conv ≤ fair  and  touch &gt; fair  →  OPTIMIZE</a:t>
            </a:r>
          </a:p>
          <a:p>
            <a:pPr algn="l">
              <a:spcAft>
                <a:spcPts val="100"/>
              </a:spcAft>
            </a:pPr>
            <a:r>
              <a:rPr sz="1050" b="0">
                <a:solidFill>
                  <a:srgbClr val="BFD2E4"/>
                </a:solidFill>
                <a:latin typeface="Consolas"/>
              </a:rPr>
              <a:t>conv ≤ fair  and  touch ≤ fair  →  CUT</a:t>
            </a:r>
          </a:p>
          <a:p>
            <a:pPr algn="l">
              <a:spcAft>
                <a:spcPts val="100"/>
              </a:spcAft>
            </a:pPr>
            <a:r>
              <a:rPr sz="1050" b="0">
                <a:solidFill>
                  <a:srgbClr val="BFD2E4"/>
                </a:solidFill>
                <a:latin typeface="Consolas"/>
              </a:rPr>
              <a:t>conv &gt; fair  and  touch ≤ fair  →  SCALE &amp; TEST</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conv  = share of attributed conversions</a:t>
            </a:r>
          </a:p>
          <a:p>
            <a:pPr algn="l">
              <a:spcAft>
                <a:spcPts val="100"/>
              </a:spcAft>
            </a:pPr>
            <a:r>
              <a:rPr sz="1050" b="0">
                <a:solidFill>
                  <a:srgbClr val="BFD2E4"/>
                </a:solidFill>
                <a:latin typeface="Consolas"/>
              </a:rPr>
              <a:t>touch = share of contributed touchpoints</a:t>
            </a:r>
          </a:p>
        </p:txBody>
      </p:sp>
      <p:sp>
        <p:nvSpPr>
          <p:cNvPr id="8" name="TextBox 7"/>
          <p:cNvSpPr txBox="1"/>
          <p:nvPr/>
        </p:nvSpPr>
        <p:spPr>
          <a:xfrm>
            <a:off x="6080760" y="3575303"/>
            <a:ext cx="5330952" cy="256032"/>
          </a:xfrm>
          <a:prstGeom prst="rect">
            <a:avLst/>
          </a:prstGeom>
          <a:noFill/>
        </p:spPr>
        <p:txBody>
          <a:bodyPr wrap="square" lIns="0" rIns="0" tIns="0" bIns="0">
            <a:spAutoFit/>
          </a:bodyPr>
          <a:lstStyle/>
          <a:p>
            <a:pPr algn="l"/>
            <a:r>
              <a:rPr sz="950" b="0">
                <a:solidFill>
                  <a:srgbClr val="8A94A0"/>
                </a:solidFill>
                <a:latin typeface="Calibri"/>
              </a:rPr>
              <a:t>Two comparisons against one line — no thresholds to tune, no discretion.</a:t>
            </a:r>
          </a:p>
        </p:txBody>
      </p:sp>
      <p:sp>
        <p:nvSpPr>
          <p:cNvPr id="9" name="Rounded Rectangle 8"/>
          <p:cNvSpPr/>
          <p:nvPr/>
        </p:nvSpPr>
        <p:spPr>
          <a:xfrm>
            <a:off x="5852160" y="4069080"/>
            <a:ext cx="5788152" cy="198424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4206240"/>
            <a:ext cx="5330952" cy="274320"/>
          </a:xfrm>
          <a:prstGeom prst="rect">
            <a:avLst/>
          </a:prstGeom>
          <a:noFill/>
        </p:spPr>
        <p:txBody>
          <a:bodyPr wrap="square" lIns="0" rIns="0" tIns="0" bIns="0">
            <a:spAutoFit/>
          </a:bodyPr>
          <a:lstStyle/>
          <a:p>
            <a:pPr algn="l"/>
            <a:r>
              <a:rPr sz="1400" b="1">
                <a:solidFill>
                  <a:srgbClr val="7FB2E5"/>
                </a:solidFill>
                <a:latin typeface="Cambria"/>
              </a:rPr>
              <a:t>Why share, not volume</a:t>
            </a:r>
          </a:p>
        </p:txBody>
      </p:sp>
      <p:sp>
        <p:nvSpPr>
          <p:cNvPr id="11" name="TextBox 10"/>
          <p:cNvSpPr txBox="1"/>
          <p:nvPr/>
        </p:nvSpPr>
        <p:spPr>
          <a:xfrm>
            <a:off x="6080760" y="4526280"/>
            <a:ext cx="5330952" cy="1344168"/>
          </a:xfrm>
          <a:prstGeom prst="rect">
            <a:avLst/>
          </a:prstGeom>
          <a:noFill/>
        </p:spPr>
        <p:txBody>
          <a:bodyPr wrap="square" lIns="0" rIns="0" tIns="0" bIns="0">
            <a:spAutoFit/>
          </a:bodyPr>
          <a:lstStyle/>
          <a:p>
            <a:pPr algn="l">
              <a:spcAft>
                <a:spcPts val="500"/>
              </a:spcAft>
            </a:pPr>
            <a:r>
              <a:rPr sz="1150" b="0">
                <a:solidFill>
                  <a:srgbClr val="E8EDF3"/>
                </a:solidFill>
                <a:latin typeface="Calibri"/>
              </a:rPr>
              <a:t>A vendor is judged on whether it converts more than its share of the touches it consumes, so a large vendor cannot buy its way into a good quadrant by spending more.</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Zillow and Apartments.com clear the line on both axes. Nine vendors clear neither.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10 · Trust &amp; Stability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Five tests asking whether the recommendation survives changing the model</a:t>
            </a:r>
          </a:p>
        </p:txBody>
      </p:sp>
      <p:pic>
        <p:nvPicPr>
          <p:cNvPr id="4" name="Picture 3" descr="p2_trust_stability.png"/>
          <p:cNvPicPr>
            <a:picLocks noChangeAspect="1"/>
          </p:cNvPicPr>
          <p:nvPr/>
        </p:nvPicPr>
        <p:blipFill>
          <a:blip r:embed="rId2"/>
          <a:stretch>
            <a:fillRect/>
          </a:stretch>
        </p:blipFill>
        <p:spPr>
          <a:xfrm>
            <a:off x="3256855" y="1298448"/>
            <a:ext cx="5675240" cy="1783080"/>
          </a:xfrm>
          <a:prstGeom prst="rect">
            <a:avLst/>
          </a:prstGeom>
        </p:spPr>
      </p:pic>
      <p:sp>
        <p:nvSpPr>
          <p:cNvPr id="5" name="Rounded Rectangle 4"/>
          <p:cNvSpPr/>
          <p:nvPr/>
        </p:nvSpPr>
        <p:spPr>
          <a:xfrm>
            <a:off x="548640" y="3337560"/>
            <a:ext cx="5541264" cy="271576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465576"/>
            <a:ext cx="5084064" cy="256032"/>
          </a:xfrm>
          <a:prstGeom prst="rect">
            <a:avLst/>
          </a:prstGeom>
          <a:noFill/>
        </p:spPr>
        <p:txBody>
          <a:bodyPr wrap="square" lIns="0" rIns="0" tIns="0" bIns="0">
            <a:spAutoFit/>
          </a:bodyPr>
          <a:lstStyle/>
          <a:p>
            <a:pPr algn="l"/>
            <a:r>
              <a:rPr sz="1000" b="1">
                <a:solidFill>
                  <a:srgbClr val="D4AF37"/>
                </a:solidFill>
                <a:latin typeface="Calibri"/>
              </a:rPr>
              <a:t>THE FIVE TESTS</a:t>
            </a:r>
          </a:p>
        </p:txBody>
      </p:sp>
      <p:sp>
        <p:nvSpPr>
          <p:cNvPr id="7" name="TextBox 6"/>
          <p:cNvSpPr txBox="1"/>
          <p:nvPr/>
        </p:nvSpPr>
        <p:spPr>
          <a:xfrm>
            <a:off x="777240" y="3758184"/>
            <a:ext cx="5084064" cy="1892808"/>
          </a:xfrm>
          <a:prstGeom prst="rect">
            <a:avLst/>
          </a:prstGeom>
          <a:noFill/>
        </p:spPr>
        <p:txBody>
          <a:bodyPr wrap="square" lIns="0" rIns="0" tIns="0" bIns="0">
            <a:spAutoFit/>
          </a:bodyPr>
          <a:lstStyle/>
          <a:p>
            <a:pPr algn="l">
              <a:spcAft>
                <a:spcPts val="100"/>
              </a:spcAft>
            </a:pPr>
            <a:r>
              <a:rPr sz="1050" b="0">
                <a:solidFill>
                  <a:srgbClr val="BFD2E4"/>
                </a:solidFill>
                <a:latin typeface="Consolas"/>
              </a:rPr>
              <a:t>Consensus     wins / 6 models × 100    = 100</a:t>
            </a:r>
          </a:p>
          <a:p>
            <a:pPr algn="l">
              <a:spcAft>
                <a:spcPts val="100"/>
              </a:spcAft>
            </a:pPr>
            <a:r>
              <a:rPr sz="1050" b="0">
                <a:solidFill>
                  <a:srgbClr val="BFD2E4"/>
                </a:solidFill>
                <a:latin typeface="Consolas"/>
              </a:rPr>
              <a:t>Robustness    vendors holding tier      = 9 of 11</a:t>
            </a:r>
          </a:p>
          <a:p>
            <a:pPr algn="l">
              <a:spcAft>
                <a:spcPts val="100"/>
              </a:spcAft>
            </a:pPr>
            <a:r>
              <a:rPr sz="1050" b="0">
                <a:solidFill>
                  <a:srgbClr val="BFD2E4"/>
                </a:solidFill>
                <a:latin typeface="Consolas"/>
              </a:rPr>
              <a:t>Max Swing     widest credit shift       = 28.0%</a:t>
            </a:r>
          </a:p>
          <a:p>
            <a:pPr algn="l">
              <a:spcAft>
                <a:spcPts val="100"/>
              </a:spcAft>
            </a:pPr>
            <a:r>
              <a:rPr sz="1050" b="0">
                <a:solidFill>
                  <a:srgbClr val="BFD2E4"/>
                </a:solidFill>
                <a:latin typeface="Consolas"/>
              </a:rPr>
              <a:t>Migration     vendors changing tier     = 0 of 11</a:t>
            </a:r>
          </a:p>
          <a:p>
            <a:pPr algn="l">
              <a:spcAft>
                <a:spcPts val="100"/>
              </a:spcAft>
            </a:pPr>
            <a:r>
              <a:rPr sz="1050" b="0">
                <a:solidFill>
                  <a:srgbClr val="BFD2E4"/>
                </a:solidFill>
                <a:latin typeface="Consolas"/>
              </a:rPr>
              <a:t>Avg Rank      top vendor, all models    = 1.0</a:t>
            </a:r>
          </a:p>
        </p:txBody>
      </p:sp>
      <p:sp>
        <p:nvSpPr>
          <p:cNvPr id="8" name="TextBox 7"/>
          <p:cNvSpPr txBox="1"/>
          <p:nvPr/>
        </p:nvSpPr>
        <p:spPr>
          <a:xfrm>
            <a:off x="777240" y="5724144"/>
            <a:ext cx="5084064" cy="256032"/>
          </a:xfrm>
          <a:prstGeom prst="rect">
            <a:avLst/>
          </a:prstGeom>
          <a:noFill/>
        </p:spPr>
        <p:txBody>
          <a:bodyPr wrap="square" lIns="0" rIns="0" tIns="0" bIns="0">
            <a:spAutoFit/>
          </a:bodyPr>
          <a:lstStyle/>
          <a:p>
            <a:pPr algn="l"/>
            <a:r>
              <a:rPr sz="950" b="0">
                <a:solidFill>
                  <a:srgbClr val="8A94A0"/>
                </a:solidFill>
                <a:latin typeface="Calibri"/>
              </a:rPr>
              <a:t>Each test runs the same question across all six models, not just the selected one.</a:t>
            </a:r>
          </a:p>
        </p:txBody>
      </p:sp>
      <p:sp>
        <p:nvSpPr>
          <p:cNvPr id="9" name="Rounded Rectangle 8"/>
          <p:cNvSpPr/>
          <p:nvPr/>
        </p:nvSpPr>
        <p:spPr>
          <a:xfrm>
            <a:off x="6309360" y="3337560"/>
            <a:ext cx="5330952" cy="271576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3474720"/>
            <a:ext cx="4873752" cy="274320"/>
          </a:xfrm>
          <a:prstGeom prst="rect">
            <a:avLst/>
          </a:prstGeom>
          <a:noFill/>
        </p:spPr>
        <p:txBody>
          <a:bodyPr wrap="square" lIns="0" rIns="0" tIns="0" bIns="0">
            <a:spAutoFit/>
          </a:bodyPr>
          <a:lstStyle/>
          <a:p>
            <a:pPr algn="l"/>
            <a:r>
              <a:rPr sz="1400" b="1">
                <a:solidFill>
                  <a:srgbClr val="7FB2E5"/>
                </a:solidFill>
                <a:latin typeface="Cambria"/>
              </a:rPr>
              <a:t>Testing the conclusion, not the data</a:t>
            </a:r>
          </a:p>
        </p:txBody>
      </p:sp>
      <p:sp>
        <p:nvSpPr>
          <p:cNvPr id="11" name="TextBox 10"/>
          <p:cNvSpPr txBox="1"/>
          <p:nvPr/>
        </p:nvSpPr>
        <p:spPr>
          <a:xfrm>
            <a:off x="6537960" y="3794760"/>
            <a:ext cx="4873752" cy="2075688"/>
          </a:xfrm>
          <a:prstGeom prst="rect">
            <a:avLst/>
          </a:prstGeom>
          <a:noFill/>
        </p:spPr>
        <p:txBody>
          <a:bodyPr wrap="square" lIns="0" rIns="0" tIns="0" bIns="0">
            <a:spAutoFit/>
          </a:bodyPr>
          <a:lstStyle/>
          <a:p>
            <a:pPr algn="l">
              <a:spcAft>
                <a:spcPts val="500"/>
              </a:spcAft>
            </a:pPr>
            <a:r>
              <a:rPr sz="1150" b="0">
                <a:solidFill>
                  <a:srgbClr val="E8EDF3"/>
                </a:solidFill>
                <a:latin typeface="Calibri"/>
              </a:rPr>
              <a:t>Every other section reports what the selected model says. This one asks whether that answer would survive a different choice.</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Nine of eleven vendors hold their action tier across all six models, and no vendor migrates quadrant against Linear. The budget recommendation is therefore not an artefact of the model chosen.</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Where consensus is low, the honest response is to act on the vendors all six models agree on and leave the rest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What the page decides for you</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Six behaviours, each governed by fixed and auditable rules</a:t>
            </a:r>
          </a:p>
        </p:txBody>
      </p:sp>
      <p:sp>
        <p:nvSpPr>
          <p:cNvPr id="4" name="Rounded Rectangle 3"/>
          <p:cNvSpPr/>
          <p:nvPr/>
        </p:nvSpPr>
        <p:spPr>
          <a:xfrm>
            <a:off x="548640" y="141732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581912"/>
            <a:ext cx="914400" cy="274320"/>
          </a:xfrm>
          <a:prstGeom prst="rect">
            <a:avLst/>
          </a:prstGeom>
          <a:noFill/>
        </p:spPr>
        <p:txBody>
          <a:bodyPr wrap="square" lIns="0" rIns="0" tIns="0" bIns="0">
            <a:spAutoFit/>
          </a:bodyPr>
          <a:lstStyle/>
          <a:p>
            <a:pPr algn="l"/>
            <a:r>
              <a:rPr sz="1300" b="1">
                <a:solidFill>
                  <a:srgbClr val="D4AF37"/>
                </a:solidFill>
                <a:latin typeface="Consolas"/>
              </a:rPr>
              <a:t>01</a:t>
            </a:r>
          </a:p>
        </p:txBody>
      </p:sp>
      <p:sp>
        <p:nvSpPr>
          <p:cNvPr id="6" name="TextBox 5"/>
          <p:cNvSpPr txBox="1"/>
          <p:nvPr/>
        </p:nvSpPr>
        <p:spPr>
          <a:xfrm>
            <a:off x="804672" y="1947672"/>
            <a:ext cx="3054096" cy="365760"/>
          </a:xfrm>
          <a:prstGeom prst="rect">
            <a:avLst/>
          </a:prstGeom>
          <a:noFill/>
        </p:spPr>
        <p:txBody>
          <a:bodyPr wrap="square" lIns="0" rIns="0" tIns="0" bIns="0">
            <a:spAutoFit/>
          </a:bodyPr>
          <a:lstStyle/>
          <a:p>
            <a:pPr algn="l"/>
            <a:r>
              <a:rPr sz="1400" b="1">
                <a:solidFill>
                  <a:srgbClr val="E8EDF3"/>
                </a:solidFill>
                <a:latin typeface="Cambria"/>
              </a:rPr>
              <a:t>Declares its own bias</a:t>
            </a:r>
          </a:p>
        </p:txBody>
      </p:sp>
      <p:sp>
        <p:nvSpPr>
          <p:cNvPr id="7" name="TextBox 6"/>
          <p:cNvSpPr txBox="1"/>
          <p:nvPr/>
        </p:nvSpPr>
        <p:spPr>
          <a:xfrm>
            <a:off x="804672" y="237744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Five fixed dimensions state what the chosen rule over-weights, before any vendor is ranked</a:t>
            </a:r>
          </a:p>
        </p:txBody>
      </p:sp>
      <p:sp>
        <p:nvSpPr>
          <p:cNvPr id="8" name="Rounded Rectangle 7"/>
          <p:cNvSpPr/>
          <p:nvPr/>
        </p:nvSpPr>
        <p:spPr>
          <a:xfrm>
            <a:off x="4315968" y="141732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81912"/>
            <a:ext cx="914400" cy="274320"/>
          </a:xfrm>
          <a:prstGeom prst="rect">
            <a:avLst/>
          </a:prstGeom>
          <a:noFill/>
        </p:spPr>
        <p:txBody>
          <a:bodyPr wrap="square" lIns="0" rIns="0" tIns="0" bIns="0">
            <a:spAutoFit/>
          </a:bodyPr>
          <a:lstStyle/>
          <a:p>
            <a:pPr algn="l"/>
            <a:r>
              <a:rPr sz="1300" b="1">
                <a:solidFill>
                  <a:srgbClr val="D4AF37"/>
                </a:solidFill>
                <a:latin typeface="Consolas"/>
              </a:rPr>
              <a:t>02</a:t>
            </a:r>
          </a:p>
        </p:txBody>
      </p:sp>
      <p:sp>
        <p:nvSpPr>
          <p:cNvPr id="10" name="TextBox 9"/>
          <p:cNvSpPr txBox="1"/>
          <p:nvPr/>
        </p:nvSpPr>
        <p:spPr>
          <a:xfrm>
            <a:off x="4572000" y="1947672"/>
            <a:ext cx="3054096" cy="365760"/>
          </a:xfrm>
          <a:prstGeom prst="rect">
            <a:avLst/>
          </a:prstGeom>
          <a:noFill/>
        </p:spPr>
        <p:txBody>
          <a:bodyPr wrap="square" lIns="0" rIns="0" tIns="0" bIns="0">
            <a:spAutoFit/>
          </a:bodyPr>
          <a:lstStyle/>
          <a:p>
            <a:pPr algn="l"/>
            <a:r>
              <a:rPr sz="1400" b="1">
                <a:solidFill>
                  <a:srgbClr val="E8EDF3"/>
                </a:solidFill>
                <a:latin typeface="Cambria"/>
              </a:rPr>
              <a:t>Tests the model against your journeys</a:t>
            </a:r>
          </a:p>
        </p:txBody>
      </p:sp>
      <p:sp>
        <p:nvSpPr>
          <p:cNvPr id="11" name="TextBox 10"/>
          <p:cNvSpPr txBox="1"/>
          <p:nvPr/>
        </p:nvSpPr>
        <p:spPr>
          <a:xfrm>
            <a:off x="4572000" y="237744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A penalty ladder on average touches and elapsed days — a different enemy for every model</a:t>
            </a:r>
          </a:p>
        </p:txBody>
      </p:sp>
      <p:sp>
        <p:nvSpPr>
          <p:cNvPr id="12" name="Rounded Rectangle 11"/>
          <p:cNvSpPr/>
          <p:nvPr/>
        </p:nvSpPr>
        <p:spPr>
          <a:xfrm>
            <a:off x="8083296" y="141732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1581912"/>
            <a:ext cx="914400" cy="274320"/>
          </a:xfrm>
          <a:prstGeom prst="rect">
            <a:avLst/>
          </a:prstGeom>
          <a:noFill/>
        </p:spPr>
        <p:txBody>
          <a:bodyPr wrap="square" lIns="0" rIns="0" tIns="0" bIns="0">
            <a:spAutoFit/>
          </a:bodyPr>
          <a:lstStyle/>
          <a:p>
            <a:pPr algn="l"/>
            <a:r>
              <a:rPr sz="1300" b="1">
                <a:solidFill>
                  <a:srgbClr val="D4AF37"/>
                </a:solidFill>
                <a:latin typeface="Consolas"/>
              </a:rPr>
              <a:t>03</a:t>
            </a:r>
          </a:p>
        </p:txBody>
      </p:sp>
      <p:sp>
        <p:nvSpPr>
          <p:cNvPr id="14" name="TextBox 13"/>
          <p:cNvSpPr txBox="1"/>
          <p:nvPr/>
        </p:nvSpPr>
        <p:spPr>
          <a:xfrm>
            <a:off x="8339327" y="1947672"/>
            <a:ext cx="3054096" cy="365760"/>
          </a:xfrm>
          <a:prstGeom prst="rect">
            <a:avLst/>
          </a:prstGeom>
          <a:noFill/>
        </p:spPr>
        <p:txBody>
          <a:bodyPr wrap="square" lIns="0" rIns="0" tIns="0" bIns="0">
            <a:spAutoFit/>
          </a:bodyPr>
          <a:lstStyle/>
          <a:p>
            <a:pPr algn="l"/>
            <a:r>
              <a:rPr sz="1400" b="1">
                <a:solidFill>
                  <a:srgbClr val="E8EDF3"/>
                </a:solidFill>
                <a:latin typeface="Cambria"/>
              </a:rPr>
              <a:t>Separates fit from trust</a:t>
            </a:r>
          </a:p>
        </p:txBody>
      </p:sp>
      <p:sp>
        <p:nvSpPr>
          <p:cNvPr id="15" name="TextBox 14"/>
          <p:cNvSpPr txBox="1"/>
          <p:nvPr/>
        </p:nvSpPr>
        <p:spPr>
          <a:xfrm>
            <a:off x="8339327" y="237744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Behavioural plausibility and operational defensibility scored apart, then weighted 40/60</a:t>
            </a:r>
          </a:p>
        </p:txBody>
      </p:sp>
      <p:sp>
        <p:nvSpPr>
          <p:cNvPr id="16" name="Rounded Rectangle 15"/>
          <p:cNvSpPr/>
          <p:nvPr/>
        </p:nvSpPr>
        <p:spPr>
          <a:xfrm>
            <a:off x="548640" y="379476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59352"/>
            <a:ext cx="914400" cy="274320"/>
          </a:xfrm>
          <a:prstGeom prst="rect">
            <a:avLst/>
          </a:prstGeom>
          <a:noFill/>
        </p:spPr>
        <p:txBody>
          <a:bodyPr wrap="square" lIns="0" rIns="0" tIns="0" bIns="0">
            <a:spAutoFit/>
          </a:bodyPr>
          <a:lstStyle/>
          <a:p>
            <a:pPr algn="l"/>
            <a:r>
              <a:rPr sz="1300" b="1">
                <a:solidFill>
                  <a:srgbClr val="D4AF37"/>
                </a:solidFill>
                <a:latin typeface="Consolas"/>
              </a:rPr>
              <a:t>04</a:t>
            </a:r>
          </a:p>
        </p:txBody>
      </p:sp>
      <p:sp>
        <p:nvSpPr>
          <p:cNvPr id="18" name="TextBox 17"/>
          <p:cNvSpPr txBox="1"/>
          <p:nvPr/>
        </p:nvSpPr>
        <p:spPr>
          <a:xfrm>
            <a:off x="804672" y="4325112"/>
            <a:ext cx="3054096" cy="365760"/>
          </a:xfrm>
          <a:prstGeom prst="rect">
            <a:avLst/>
          </a:prstGeom>
          <a:noFill/>
        </p:spPr>
        <p:txBody>
          <a:bodyPr wrap="square" lIns="0" rIns="0" tIns="0" bIns="0">
            <a:spAutoFit/>
          </a:bodyPr>
          <a:lstStyle/>
          <a:p>
            <a:pPr algn="l"/>
            <a:r>
              <a:rPr sz="1400" b="1">
                <a:solidFill>
                  <a:srgbClr val="E8EDF3"/>
                </a:solidFill>
                <a:latin typeface="Cambria"/>
              </a:rPr>
              <a:t>Names one model and prices the gap</a:t>
            </a:r>
          </a:p>
        </p:txBody>
      </p:sp>
      <p:sp>
        <p:nvSpPr>
          <p:cNvPr id="19" name="TextBox 18"/>
          <p:cNvSpPr txBox="1"/>
          <p:nvPr/>
        </p:nvSpPr>
        <p:spPr>
          <a:xfrm>
            <a:off x="804672" y="475488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Highest Overall Fit wins outright, and the difference is restated in leases and dollars</a:t>
            </a:r>
          </a:p>
        </p:txBody>
      </p:sp>
      <p:sp>
        <p:nvSpPr>
          <p:cNvPr id="20" name="Rounded Rectangle 19"/>
          <p:cNvSpPr/>
          <p:nvPr/>
        </p:nvSpPr>
        <p:spPr>
          <a:xfrm>
            <a:off x="4315968" y="379476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959352"/>
            <a:ext cx="914400" cy="274320"/>
          </a:xfrm>
          <a:prstGeom prst="rect">
            <a:avLst/>
          </a:prstGeom>
          <a:noFill/>
        </p:spPr>
        <p:txBody>
          <a:bodyPr wrap="square" lIns="0" rIns="0" tIns="0" bIns="0">
            <a:spAutoFit/>
          </a:bodyPr>
          <a:lstStyle/>
          <a:p>
            <a:pPr algn="l"/>
            <a:r>
              <a:rPr sz="1300" b="1">
                <a:solidFill>
                  <a:srgbClr val="D4AF37"/>
                </a:solidFill>
                <a:latin typeface="Consolas"/>
              </a:rPr>
              <a:t>05</a:t>
            </a:r>
          </a:p>
        </p:txBody>
      </p:sp>
      <p:sp>
        <p:nvSpPr>
          <p:cNvPr id="22" name="TextBox 21"/>
          <p:cNvSpPr txBox="1"/>
          <p:nvPr/>
        </p:nvSpPr>
        <p:spPr>
          <a:xfrm>
            <a:off x="4572000" y="4325112"/>
            <a:ext cx="3054096" cy="365760"/>
          </a:xfrm>
          <a:prstGeom prst="rect">
            <a:avLst/>
          </a:prstGeom>
          <a:noFill/>
        </p:spPr>
        <p:txBody>
          <a:bodyPr wrap="square" lIns="0" rIns="0" tIns="0" bIns="0">
            <a:spAutoFit/>
          </a:bodyPr>
          <a:lstStyle/>
          <a:p>
            <a:pPr algn="l"/>
            <a:r>
              <a:rPr sz="1400" b="1">
                <a:solidFill>
                  <a:srgbClr val="E8EDF3"/>
                </a:solidFill>
                <a:latin typeface="Cambria"/>
              </a:rPr>
              <a:t>Checks its own stability</a:t>
            </a:r>
          </a:p>
        </p:txBody>
      </p:sp>
      <p:sp>
        <p:nvSpPr>
          <p:cNvPr id="23" name="TextBox 22"/>
          <p:cNvSpPr txBox="1"/>
          <p:nvPr/>
        </p:nvSpPr>
        <p:spPr>
          <a:xfrm>
            <a:off x="4572000" y="475488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Five tests re-run the recommendation across all six models, not just the selected one</a:t>
            </a:r>
          </a:p>
        </p:txBody>
      </p:sp>
      <p:sp>
        <p:nvSpPr>
          <p:cNvPr id="24" name="Rounded Rectangle 23"/>
          <p:cNvSpPr/>
          <p:nvPr/>
        </p:nvSpPr>
        <p:spPr>
          <a:xfrm>
            <a:off x="8083296" y="379476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9327" y="3959352"/>
            <a:ext cx="914400" cy="274320"/>
          </a:xfrm>
          <a:prstGeom prst="rect">
            <a:avLst/>
          </a:prstGeom>
          <a:noFill/>
        </p:spPr>
        <p:txBody>
          <a:bodyPr wrap="square" lIns="0" rIns="0" tIns="0" bIns="0">
            <a:spAutoFit/>
          </a:bodyPr>
          <a:lstStyle/>
          <a:p>
            <a:pPr algn="l"/>
            <a:r>
              <a:rPr sz="1300" b="1">
                <a:solidFill>
                  <a:srgbClr val="D4AF37"/>
                </a:solidFill>
                <a:latin typeface="Consolas"/>
              </a:rPr>
              <a:t>06</a:t>
            </a:r>
          </a:p>
        </p:txBody>
      </p:sp>
      <p:sp>
        <p:nvSpPr>
          <p:cNvPr id="26" name="TextBox 25"/>
          <p:cNvSpPr txBox="1"/>
          <p:nvPr/>
        </p:nvSpPr>
        <p:spPr>
          <a:xfrm>
            <a:off x="8339327" y="4325112"/>
            <a:ext cx="3054096" cy="365760"/>
          </a:xfrm>
          <a:prstGeom prst="rect">
            <a:avLst/>
          </a:prstGeom>
          <a:noFill/>
        </p:spPr>
        <p:txBody>
          <a:bodyPr wrap="square" lIns="0" rIns="0" tIns="0" bIns="0">
            <a:spAutoFit/>
          </a:bodyPr>
          <a:lstStyle/>
          <a:p>
            <a:pPr algn="l"/>
            <a:r>
              <a:rPr sz="1400" b="1">
                <a:solidFill>
                  <a:srgbClr val="E8EDF3"/>
                </a:solidFill>
                <a:latin typeface="Cambria"/>
              </a:rPr>
              <a:t>Stops short of switching</a:t>
            </a:r>
          </a:p>
        </p:txBody>
      </p:sp>
      <p:sp>
        <p:nvSpPr>
          <p:cNvPr id="27" name="TextBox 26"/>
          <p:cNvSpPr txBox="1"/>
          <p:nvPr/>
        </p:nvSpPr>
        <p:spPr>
          <a:xfrm>
            <a:off x="8339327" y="475488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It hands over a defensible position; the commercial decision stays with the operator</a:t>
            </a:r>
          </a:p>
        </p:txBody>
      </p:sp>
      <p:sp>
        <p:nvSpPr>
          <p:cNvPr id="28" name="TextBox 27"/>
          <p:cNvSpPr txBox="1"/>
          <p:nvPr/>
        </p:nvSpPr>
        <p:spPr>
          <a:xfrm>
            <a:off x="548640" y="5943600"/>
            <a:ext cx="11155680" cy="274320"/>
          </a:xfrm>
          <a:prstGeom prst="rect">
            <a:avLst/>
          </a:prstGeom>
          <a:noFill/>
        </p:spPr>
        <p:txBody>
          <a:bodyPr wrap="square" lIns="0" rIns="0" tIns="0" bIns="0">
            <a:spAutoFit/>
          </a:bodyPr>
          <a:lstStyle/>
          <a:p>
            <a:pPr algn="l"/>
            <a:r>
              <a:rPr sz="1150" b="0">
                <a:solidFill>
                  <a:srgbClr val="67737F"/>
                </a:solidFill>
                <a:latin typeface="Calibri"/>
              </a:rPr>
              <a:t>The models disagree by design. The page measures the disagreement rather than resolving it quietly.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Oval 1"/>
          <p:cNvSpPr/>
          <p:nvPr/>
        </p:nvSpPr>
        <p:spPr>
          <a:xfrm>
            <a:off x="8686800" y="-1737360"/>
            <a:ext cx="6309360" cy="6309360"/>
          </a:xfrm>
          <a:prstGeom prst="ellipse">
            <a:avLst/>
          </a:prstGeom>
          <a:solidFill>
            <a:srgbClr val="16202C"/>
          </a:solidFill>
          <a:ln>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365760"/>
            <a:ext cx="3383280" cy="3383280"/>
          </a:xfrm>
          <a:prstGeom prst="ellipse">
            <a:avLst/>
          </a:prstGeom>
          <a:solidFill>
            <a:srgbClr val="1D2B3A"/>
          </a:solidFill>
          <a:ln>
            <a:solidFill>
              <a:srgbClr val="1D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11680"/>
            <a:ext cx="8229600" cy="274320"/>
          </a:xfrm>
          <a:prstGeom prst="rect">
            <a:avLst/>
          </a:prstGeom>
          <a:noFill/>
        </p:spPr>
        <p:txBody>
          <a:bodyPr wrap="square" lIns="0" rIns="0" tIns="0" bIns="0">
            <a:spAutoFit/>
          </a:bodyPr>
          <a:lstStyle/>
          <a:p>
            <a:pPr algn="l"/>
            <a:r>
              <a:rPr sz="1100" b="1">
                <a:solidFill>
                  <a:srgbClr val="D4AF37"/>
                </a:solidFill>
                <a:latin typeface="Calibri"/>
              </a:rPr>
              <a:t>NORTHSTAR INTELLIGENCE PLATFORM</a:t>
            </a:r>
          </a:p>
        </p:txBody>
      </p:sp>
      <p:sp>
        <p:nvSpPr>
          <p:cNvPr id="5" name="TextBox 4"/>
          <p:cNvSpPr txBox="1"/>
          <p:nvPr/>
        </p:nvSpPr>
        <p:spPr>
          <a:xfrm>
            <a:off x="777240" y="2514600"/>
            <a:ext cx="8686800" cy="1554480"/>
          </a:xfrm>
          <a:prstGeom prst="rect">
            <a:avLst/>
          </a:prstGeom>
          <a:noFill/>
        </p:spPr>
        <p:txBody>
          <a:bodyPr wrap="square" lIns="0" rIns="0" tIns="0" bIns="0">
            <a:spAutoFit/>
          </a:bodyPr>
          <a:lstStyle/>
          <a:p>
            <a:pPr algn="l">
              <a:spcAft>
                <a:spcPts val="200"/>
              </a:spcAft>
            </a:pPr>
            <a:r>
              <a:rPr sz="4000" b="1">
                <a:solidFill>
                  <a:srgbClr val="E8EDF3"/>
                </a:solidFill>
                <a:latin typeface="Cambria"/>
              </a:rPr>
              <a:t>The model is a choice.</a:t>
            </a:r>
          </a:p>
          <a:p>
            <a:pPr algn="l">
              <a:spcAft>
                <a:spcPts val="200"/>
              </a:spcAft>
            </a:pPr>
            <a:r>
              <a:rPr sz="4000" b="1">
                <a:solidFill>
                  <a:srgbClr val="E8EDF3"/>
                </a:solidFill>
                <a:latin typeface="Cambria"/>
              </a:rPr>
              <a:t>The page prices it.</a:t>
            </a:r>
          </a:p>
        </p:txBody>
      </p:sp>
      <p:sp>
        <p:nvSpPr>
          <p:cNvPr id="6" name="TextBox 5"/>
          <p:cNvSpPr txBox="1"/>
          <p:nvPr/>
        </p:nvSpPr>
        <p:spPr>
          <a:xfrm>
            <a:off x="777240" y="4663440"/>
            <a:ext cx="8229600" cy="320040"/>
          </a:xfrm>
          <a:prstGeom prst="rect">
            <a:avLst/>
          </a:prstGeom>
          <a:noFill/>
        </p:spPr>
        <p:txBody>
          <a:bodyPr wrap="square" lIns="0" rIns="0" tIns="0" bIns="0">
            <a:spAutoFit/>
          </a:bodyPr>
          <a:lstStyle/>
          <a:p>
            <a:pPr algn="l"/>
            <a:r>
              <a:rPr sz="1250" b="0">
                <a:solidFill>
                  <a:srgbClr val="67737F"/>
                </a:solidFill>
                <a:latin typeface="Calibri"/>
              </a:rPr>
              <a:t>Attribution Lab  ·  Visual logic &amp; calculations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